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omFill" id="{28ae4ea2-9d50-e832-cb20-6075fc7cbbc7}">
          <p14:sldIdLst>
            <p14:sldId id="256"/>
          </p14:sldIdLst>
        </p14:section>
        <p14:section name="Problem and approach" id="{a8415aee-74e8-e64e-7c89-55bb3fad5ed6}">
          <p14:sldIdLst>
            <p14:sldId id="257"/>
          </p14:sldIdLst>
        </p14:section>
        <p14:section name="System architecture" id="{00e2b025-1dcc-c634-c0d4-982af142c079}">
          <p14:sldIdLst>
            <p14:sldId id="258"/>
          </p14:sldIdLst>
        </p14:section>
        <p14:section name="Data" id="{81b2d15b-af32-e1b3-090e-78a15f487674}">
          <p14:sldIdLst>
            <p14:sldId id="259"/>
          </p14:sldIdLst>
        </p14:section>
        <p14:section name="Results" id="{b04b5cf1-0e5a-cd5f-9da4-f13daca3f3ed}">
          <p14:sldIdLst>
            <p14:sldId id="260"/>
          </p14:sldIdLst>
        </p14:section>
        <p14:section name="Completion and honesty" id="{93404bde-0253-03da-3779-39b9132b8157}">
          <p14:sldIdLst>
            <p14:sldId id="261"/>
          </p14:sldIdLst>
        </p14:section>
        <p14:section name="Beyond the minimum" id="{7ab81ece-e48c-b7ba-073f-3ff9cc6101c0}">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DF0"/>
                </a:solidFill>
                <a:latin typeface="+mj-lt"/>
              </a:defRPr>
            </a:pPr>
            <a:r>
              <a:rPr sz="1400" b="0" i="0" u="none" strike="noStrike">
                <a:solidFill>
                  <a:srgbClr val="EDEDF0"/>
                </a:solidFill>
                <a:latin typeface="+mj-lt"/>
              </a:rPr>
              <a:t>Chamfer distance, cm (lower is better)</a:t>
            </a:r>
          </a:p>
        </c:rich>
      </c:tx>
      <c:layout/>
      <c:overlay val="0"/>
    </c:title>
    <c:autoTitleDeleted val="0"/>
    <c:plotArea>
      <c:layout/>
      <c:barChart>
        <c:barDir val="col"/>
        <c:grouping val="clustered"/>
        <c:varyColors val="0"/>
        <c:ser>
          <c:idx val="0"/>
          <c:order val="0"/>
          <c:tx>
            <c:strRef>
              <c:f>Sheet1!$B$1</c:f>
              <c:strCache>
                <c:ptCount val="1"/>
                <c:pt idx="0">
                  <c:v>Chamfer (cm)</c:v>
                </c:pt>
              </c:strCache>
            </c:strRef>
          </c:tx>
          <c:spPr>
            <a:solidFill>
              <a:srgbClr val="6F7380"/>
            </a:solidFill>
            <a:effectLst/>
          </c:spPr>
          <c:invertIfNegative val="0"/>
          <c:dLbls>
            <c:numFmt formatCode="0.0" sourceLinked="0"/>
            <c:txPr>
              <a:bodyPr/>
              <a:lstStyle/>
              <a:p>
                <a:pPr>
                  <a:defRPr b="0" i="0" strike="noStrike" sz="1300" u="none">
                    <a:solidFill>
                      <a:srgbClr val="EDEDF0"/>
                    </a:solidFill>
                    <a:latin typeface="+mn-lt"/>
                  </a:defRPr>
                </a:pPr>
              </a:p>
            </c:txPr>
            <c:showLegendKey val="0"/>
            <c:showVal val="1"/>
            <c:showCatName val="0"/>
            <c:showSerName val="0"/>
            <c:showPercent val="0"/>
            <c:showBubbleSize val="0"/>
            <c:showLeaderLines val="0"/>
          </c:dLbls>
          <c:dPt>
            <c:idx val="0"/>
            <c:invertIfNegative val="0"/>
            <c:bubble3D val="0"/>
            <c:spPr>
              <a:solidFill>
                <a:srgbClr val="6F7380"/>
              </a:solidFill>
              <a:effectLst/>
            </c:spPr>
          </c:dPt>
          <c:dPt>
            <c:idx val="1"/>
            <c:invertIfNegative val="0"/>
            <c:bubble3D val="0"/>
            <c:spPr>
              <a:solidFill>
                <a:srgbClr val="E0479E"/>
              </a:solidFill>
              <a:effectLst/>
            </c:spPr>
          </c:dPt>
          <c:cat>
            <c:multiLvlStrRef>
              <c:f>Sheet1!$A$2:$A$3</c:f>
              <c:multiLvlStrCache>
                <c:ptCount val="2"/>
                <c:lvl>
                  <c:pt idx="0">
                    <c:v>Baseline 3DGS</c:v>
                  </c:pt>
                  <c:pt idx="1">
                    <c:v>RoomFill</c:v>
                  </c:pt>
                </c:lvl>
              </c:multiLvlStrCache>
            </c:multiLvlStrRef>
          </c:cat>
          <c:val>
            <c:numRef>
              <c:f>Sheet1!$B$2:$B$3</c:f>
              <c:numCache>
                <c:formatCode>General</c:formatCode>
                <c:ptCount val="2"/>
                <c:pt idx="0">
                  <c:v>22.2</c:v>
                </c:pt>
                <c:pt idx="1">
                  <c:v>15.5</c:v>
                </c:pt>
              </c:numCache>
            </c:numRef>
          </c:val>
        </c:ser>
        <c:dLbls>
          <c:numFmt formatCode="0.0" sourceLinked="0"/>
          <c:txPr>
            <a:bodyPr/>
            <a:lstStyle/>
            <a:p>
              <a:pPr>
                <a:defRPr b="0" i="0" strike="noStrike" sz="1300" u="none">
                  <a:solidFill>
                    <a:srgbClr val="EDEDF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3A6B1"/>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A1C22"/>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DF0"/>
                </a:solidFill>
                <a:latin typeface="+mj-lt"/>
              </a:defRPr>
            </a:pPr>
            <a:r>
              <a:rPr sz="1400" b="0" i="0" u="none" strike="noStrike">
                <a:solidFill>
                  <a:srgbClr val="EDEDF0"/>
                </a:solidFill>
                <a:latin typeface="+mj-lt"/>
              </a:rPr>
              <a:t>Room surfaces covered within 25 cm</a:t>
            </a:r>
          </a:p>
        </c:rich>
      </c:tx>
      <c:layout/>
      <c:overlay val="0"/>
    </c:title>
    <c:autoTitleDeleted val="0"/>
    <c:plotArea>
      <c:layout/>
      <c:barChart>
        <c:barDir val="col"/>
        <c:grouping val="clustered"/>
        <c:varyColors val="0"/>
        <c:ser>
          <c:idx val="0"/>
          <c:order val="0"/>
          <c:tx>
            <c:strRef>
              <c:f>Sheet1!$B$1</c:f>
              <c:strCache>
                <c:ptCount val="1"/>
                <c:pt idx="0">
                  <c:v>Coverage</c:v>
                </c:pt>
              </c:strCache>
            </c:strRef>
          </c:tx>
          <c:spPr>
            <a:solidFill>
              <a:srgbClr val="6F7380"/>
            </a:solidFill>
            <a:effectLst/>
          </c:spPr>
          <c:invertIfNegative val="0"/>
          <c:dLbls>
            <c:numFmt formatCode="0&quot;%&quot;" sourceLinked="0"/>
            <c:txPr>
              <a:bodyPr/>
              <a:lstStyle/>
              <a:p>
                <a:pPr>
                  <a:defRPr b="0" i="0" strike="noStrike" sz="1300" u="none">
                    <a:solidFill>
                      <a:srgbClr val="EDEDF0"/>
                    </a:solidFill>
                    <a:latin typeface="+mn-lt"/>
                  </a:defRPr>
                </a:pPr>
              </a:p>
            </c:txPr>
            <c:showLegendKey val="0"/>
            <c:showVal val="1"/>
            <c:showCatName val="0"/>
            <c:showSerName val="0"/>
            <c:showPercent val="0"/>
            <c:showBubbleSize val="0"/>
            <c:showLeaderLines val="0"/>
          </c:dLbls>
          <c:dPt>
            <c:idx val="0"/>
            <c:invertIfNegative val="0"/>
            <c:bubble3D val="0"/>
            <c:spPr>
              <a:solidFill>
                <a:srgbClr val="6F7380"/>
              </a:solidFill>
              <a:effectLst/>
            </c:spPr>
          </c:dPt>
          <c:dPt>
            <c:idx val="1"/>
            <c:invertIfNegative val="0"/>
            <c:bubble3D val="0"/>
            <c:spPr>
              <a:solidFill>
                <a:srgbClr val="E0479E"/>
              </a:solidFill>
              <a:effectLst/>
            </c:spPr>
          </c:dPt>
          <c:cat>
            <c:multiLvlStrRef>
              <c:f>Sheet1!$A$2:$A$3</c:f>
              <c:multiLvlStrCache>
                <c:ptCount val="2"/>
                <c:lvl>
                  <c:pt idx="0">
                    <c:v>Baseline 3DGS</c:v>
                  </c:pt>
                  <c:pt idx="1">
                    <c:v>RoomFill</c:v>
                  </c:pt>
                </c:lvl>
              </c:multiLvlStrCache>
            </c:multiLvlStrRef>
          </c:cat>
          <c:val>
            <c:numRef>
              <c:f>Sheet1!$B$2:$B$3</c:f>
              <c:numCache>
                <c:formatCode>General</c:formatCode>
                <c:ptCount val="2"/>
                <c:pt idx="0">
                  <c:v>52</c:v>
                </c:pt>
                <c:pt idx="1">
                  <c:v>90</c:v>
                </c:pt>
              </c:numCache>
            </c:numRef>
          </c:val>
        </c:ser>
        <c:dLbls>
          <c:numFmt formatCode="0&quot;%&quot;" sourceLinked="0"/>
          <c:txPr>
            <a:bodyPr/>
            <a:lstStyle/>
            <a:p>
              <a:pPr>
                <a:defRPr b="0" i="0" strike="noStrike" sz="1300" u="none">
                  <a:solidFill>
                    <a:srgbClr val="EDEDF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3A6B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A1C22"/>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DEDF0"/>
                </a:solidFill>
                <a:latin typeface="+mj-lt"/>
              </a:defRPr>
            </a:pPr>
            <a:r>
              <a:rPr sz="1300" b="0" i="0" u="none" strike="noStrike">
                <a:solidFill>
                  <a:srgbClr val="EDEDF0"/>
                </a:solidFill>
                <a:latin typeface="+mj-lt"/>
              </a:rPr>
              <a:t>Each surface: observed / opening / generated</a:t>
            </a:r>
          </a:p>
        </c:rich>
      </c:tx>
      <c:layout/>
      <c:overlay val="0"/>
    </c:title>
    <c:autoTitleDeleted val="0"/>
    <c:plotArea>
      <c:layout/>
      <c:barChart>
        <c:barDir val="bar"/>
        <c:grouping val="percentStacked"/>
        <c:varyColors val="0"/>
        <c:ser>
          <c:idx val="0"/>
          <c:order val="0"/>
          <c:tx>
            <c:strRef>
              <c:f>Sheet1!$B$1</c:f>
              <c:strCache>
                <c:ptCount val="1"/>
                <c:pt idx="0">
                  <c:v>Observed</c:v>
                </c:pt>
              </c:strCache>
            </c:strRef>
          </c:tx>
          <c:spPr>
            <a:solidFill>
              <a:srgbClr val="5FC7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Ceiling</c:v>
                  </c:pt>
                  <c:pt idx="1">
                    <c:v>Floor</c:v>
                  </c:pt>
                  <c:pt idx="2">
                    <c:v>Board wall</c:v>
                  </c:pt>
                  <c:pt idx="3">
                    <c:v>Window wall</c:v>
                  </c:pt>
                  <c:pt idx="4">
                    <c:v>Back wall</c:v>
                  </c:pt>
                  <c:pt idx="5">
                    <c:v>Side wall</c:v>
                  </c:pt>
                </c:lvl>
              </c:multiLvlStrCache>
            </c:multiLvlStrRef>
          </c:cat>
          <c:val>
            <c:numRef>
              <c:f>Sheet1!$B$2:$B$7</c:f>
              <c:numCache>
                <c:formatCode>General</c:formatCode>
                <c:ptCount val="6"/>
                <c:pt idx="0">
                  <c:v>39</c:v>
                </c:pt>
                <c:pt idx="1">
                  <c:v>76</c:v>
                </c:pt>
                <c:pt idx="2">
                  <c:v>57</c:v>
                </c:pt>
                <c:pt idx="3">
                  <c:v>73</c:v>
                </c:pt>
                <c:pt idx="4">
                  <c:v>39</c:v>
                </c:pt>
                <c:pt idx="5">
                  <c:v>40</c:v>
                </c:pt>
              </c:numCache>
            </c:numRef>
          </c:val>
        </c:ser>
        <c:ser>
          <c:idx val="1"/>
          <c:order val="1"/>
          <c:tx>
            <c:strRef>
              <c:f>Sheet1!$C$1</c:f>
              <c:strCache>
                <c:ptCount val="1"/>
                <c:pt idx="0">
                  <c:v>Opening</c:v>
                </c:pt>
              </c:strCache>
            </c:strRef>
          </c:tx>
          <c:spPr>
            <a:solidFill>
              <a:srgbClr val="A3A6B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Ceiling</c:v>
                  </c:pt>
                  <c:pt idx="1">
                    <c:v>Floor</c:v>
                  </c:pt>
                  <c:pt idx="2">
                    <c:v>Board wall</c:v>
                  </c:pt>
                  <c:pt idx="3">
                    <c:v>Window wall</c:v>
                  </c:pt>
                  <c:pt idx="4">
                    <c:v>Back wall</c:v>
                  </c:pt>
                  <c:pt idx="5">
                    <c:v>Side wall</c:v>
                  </c:pt>
                </c:lvl>
              </c:multiLvlStrCache>
            </c:multiLvlStrRef>
          </c:cat>
          <c:val>
            <c:numRef>
              <c:f>Sheet1!$C$2:$C$7</c:f>
              <c:numCache>
                <c:formatCode>General</c:formatCode>
                <c:ptCount val="6"/>
                <c:pt idx="0">
                  <c:v>0</c:v>
                </c:pt>
                <c:pt idx="1">
                  <c:v>0</c:v>
                </c:pt>
                <c:pt idx="2">
                  <c:v>2</c:v>
                </c:pt>
                <c:pt idx="3">
                  <c:v>0</c:v>
                </c:pt>
                <c:pt idx="4">
                  <c:v>0</c:v>
                </c:pt>
                <c:pt idx="5">
                  <c:v>8</c:v>
                </c:pt>
              </c:numCache>
            </c:numRef>
          </c:val>
        </c:ser>
        <c:ser>
          <c:idx val="2"/>
          <c:order val="2"/>
          <c:tx>
            <c:strRef>
              <c:f>Sheet1!$D$1</c:f>
              <c:strCache>
                <c:ptCount val="1"/>
                <c:pt idx="0">
                  <c:v>Generated</c:v>
                </c:pt>
              </c:strCache>
            </c:strRef>
          </c:tx>
          <c:spPr>
            <a:solidFill>
              <a:srgbClr val="E047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Ceiling</c:v>
                  </c:pt>
                  <c:pt idx="1">
                    <c:v>Floor</c:v>
                  </c:pt>
                  <c:pt idx="2">
                    <c:v>Board wall</c:v>
                  </c:pt>
                  <c:pt idx="3">
                    <c:v>Window wall</c:v>
                  </c:pt>
                  <c:pt idx="4">
                    <c:v>Back wall</c:v>
                  </c:pt>
                  <c:pt idx="5">
                    <c:v>Side wall</c:v>
                  </c:pt>
                </c:lvl>
              </c:multiLvlStrCache>
            </c:multiLvlStrRef>
          </c:cat>
          <c:val>
            <c:numRef>
              <c:f>Sheet1!$D$2:$D$7</c:f>
              <c:numCache>
                <c:formatCode>General</c:formatCode>
                <c:ptCount val="6"/>
                <c:pt idx="0">
                  <c:v>61</c:v>
                </c:pt>
                <c:pt idx="1">
                  <c:v>24</c:v>
                </c:pt>
                <c:pt idx="2">
                  <c:v>41</c:v>
                </c:pt>
                <c:pt idx="3">
                  <c:v>27</c:v>
                </c:pt>
                <c:pt idx="4">
                  <c:v>61</c:v>
                </c:pt>
                <c:pt idx="5">
                  <c:v>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DEDF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2D3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A3A6B1"/>
                </a:solidFill>
                <a:latin typeface="+mn-lt"/>
              </a:defRPr>
            </a:pPr>
            <a:endParaRPr lang="en-US"/>
          </a:p>
        </c:txPr>
        <c:crossAx val="2094734554"/>
        <c:crosses val="autoZero"/>
        <c:crossBetween val="between"/>
      </c:valAx>
      <c:spPr>
        <a:solidFill>
          <a:srgbClr val="1A1C22"/>
        </a:solidFill>
        <a:ln>
          <a:noFill/>
        </a:ln>
        <a:effectLst/>
      </c:spPr>
    </c:plotArea>
    <c:legend>
      <c:legendPos val="b"/>
      <c:overlay val="0"/>
      <c:txPr>
        <a:bodyPr/>
        <a:lstStyle/>
        <a:p>
          <a:pPr>
            <a:defRPr sz="1100">
              <a:solidFill>
                <a:srgbClr val="EDEDF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from Karunya Institute of Technology and Sciences, and this is RoomFill, our solution to HNX26EPS06. You walk through a room with an ordinary phone for under a minute. RoomFill turns that video into a 3D model of the room at real-world scale, fills in the parts the camera never saw, like most of the ceiling, and marks every filled-in surface so a guess is never mistaken for a measurement. On our own classroom, the shape error against a tape measure fell from 22.2 cm to 15.5 cm, and the share of the room surface we reconstruct went from 52% to 90%. It runs offline on one laptop GPU, at zero cost per run, and there is no LLM anywhere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tool today is 3D Gaussian Splatting. It looks great where the camera went, but it has three problems. One: wherever the camera did not look you get holes and floating blobs. Two: it has no idea of real size, so you cannot measure the room. Three: it never tells you which parts are real and which are guessed. Our three ideas answer those directly. First, fit the room shell (floor, ceiling, four walls) and complete only on that shell, so nothing floats. Second, before filling anything, check every point of the shell against all 400 camera views; only points no camera ever saw get filled. Third, every filled point carries a generated flag and a confidence that survive into every exported file. And to be clear: no large language model anywhere. It is geometry, a per-scene neural renderer and two small vision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inputs: the walkthrough video, five photos we keep hidden for testing, the floor plan, and our tape measurements, used only for scoring and scale checks. Stage 1 picks the 400 sharpest frames. Stage 2, COLMAP, works out where the camera was for every frame. Stage 3 trains 3D Gaussian Splatting on the GPU. Stage 4 deletes floaters: blobs within half a metre of the path we actually walked, which must be empty air. Stage 5 fits the room box; stage 6 gives it real-world scale from the floor plan, with a camera-height fallback. The magenta stages are our core contribution: stage 7 tests every texel of the shell against every camera to find what was truly never seen; stage 8 fills only those texels with LaMa inpainting; stage 9 tags them as generated with a confidence. Stage 10 exports PLY, splat, GLB and USD, plus the web viewer. Bottom right: zero LLMs, zero API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except the development scene we captured ourselves, in a Karunya classroom. A 57-second 1080p phone walkthrough; we used the first 51 seconds, inside the room. From it, 400 sharp frames plus 78 extra from a blurry stretch. Five still photos from new positions are held out: the model never sees them, and we use them to score image quality honestly. Ground truth is a tape measure: 9.23 by 8.88 metres, 3.5 metre ceiling, a 1.0 by 2.05 metre door. We also used the room's floor plan. Every stage was built and tested first on the public Playroom scene. The video and photos show people, so they stay private; the code and the reconstruction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plain 3D Gaussian Splatting trained on exactly the same frames for the same number of steps, so the only difference is our pipeline. Left, geometry: we compare reconstructed walls, floor and ceiling with a box built from the tape measurements. Error drops from 22.2 to 15.5 centimetres, about 30% better, and the share of the room within 25 centimetres of the truth goes from 52 to 90 percent. Right, image quality on the five hidden photos: we beat the baseline on PSNR, SSIM and LPIPS. Each photo is colour-aligned first because phone photo mode and video mode expose differently; the raw PSNR is shown too and still favours us. Bottom: room length and width within 4% of the tape, height within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part. Top: looking up at the ceiling, which the walkthrough barely filmed. Left is the filled-in result; right is the same view with everything we generated in magenta. Stronger magenta means lower confidence, further from real evidence. The fans and beams the camera did see are untouched. Bottom: a viewpoint nobody filmed; the baseline smears floaters across it, RoomFill stays clean. Right: for each surface, how much was observed, seen through an opening like a door or window, and generated. The ceiling and back wall were 61% generated, the floor only 24%. Openings the camera saw through are protected, so we never paint a wall over a doorway.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task we covered all five stretch goals: floor-plan mode in the same pipeline, the observed-versus-generated overlay, splitting furniture into 36 objects, a sparse mode where 30 frames nearly match 400, and export to PLY, GLB and USD that open in Blender. Limits: rectangular rooms only, and we complete surfaces, not furniture hidden behind other furniture. LIVE DEMO: open the link. Drag to look around, scroll to walk. Press G: magenta shows what was generated. Press B: the baseline, with its floaters. Press 2 to look up at the ceiling. Press T and click both ends of a desk: the real length appears in metres (about 1.1 m). Esc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66928" cy="680314"/>
          </a:xfrm>
          <a:prstGeom prst="rect">
            <a:avLst>
              <a:gd name="adj" fmla="val 12903"/>
            </a:avLst>
          </a:prstGeom>
          <a:solidFill>
            <a:srgbClr val="FFFFFF"/>
          </a:solidFill>
          <a:ln/>
        </p:spPr>
      </p:sp>
      <p:pic>
        <p:nvPicPr>
          <p:cNvPr id="3" name="Image 0" descr="C:\Users\KIRAN\.claude\calde\hacknex-3d\deck\assets\karunya_logo.png">    </p:cNvPr>
          <p:cNvPicPr>
            <a:picLocks noChangeAspect="1"/>
          </p:cNvPicPr>
          <p:nvPr/>
        </p:nvPicPr>
        <p:blipFill>
          <a:blip r:embed="rId1"/>
          <a:stretch>
            <a:fillRect/>
          </a:stretch>
        </p:blipFill>
        <p:spPr>
          <a:xfrm>
            <a:off x="593994" y="548274"/>
            <a:ext cx="476220" cy="57826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11228832" y="329184"/>
            <a:ext cx="438912" cy="526694"/>
          </a:xfrm>
          <a:prstGeom prst="rect">
            <a:avLst>
              <a:gd name="adj" fmla="val 16667"/>
            </a:avLst>
          </a:prstGeom>
          <a:solidFill>
            <a:srgbClr val="FFFFFF"/>
          </a:solidFill>
          <a:ln/>
        </p:spPr>
      </p:sp>
      <p:pic>
        <p:nvPicPr>
          <p:cNvPr id="3" name="Image 0" descr="C:\Users\KIRAN\.claude\calde\hacknex-3d\deck\assets\karunya_logo.png">    </p:cNvPr>
          <p:cNvPicPr>
            <a:picLocks noChangeAspect="1"/>
          </p:cNvPicPr>
          <p:nvPr/>
        </p:nvPicPr>
        <p:blipFill>
          <a:blip r:embed="rId1"/>
          <a:stretch>
            <a:fillRect/>
          </a:stretch>
        </p:blipFill>
        <p:spPr>
          <a:xfrm>
            <a:off x="11263945" y="364297"/>
            <a:ext cx="368686" cy="447690"/>
          </a:xfrm>
          <a:prstGeom prst="rect">
            <a:avLst/>
          </a:prstGeom>
        </p:spPr>
      </p:pic>
      <p:sp>
        <p:nvSpPr>
          <p:cNvPr id="4" name="Text 1"/>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A3A6B1"/>
                </a:solidFill>
              </a:rPr>
              <a:t>RoomFill  |  HackNex 2026  |  Karunya Institute of Technology and Sciences</a:t>
            </a:r>
            <a:endParaRPr lang="en-US" sz="1000" dirty="0"/>
          </a:p>
        </p:txBody>
      </p:sp>
      <p:sp>
        <p:nvSpPr>
          <p:cNvPr id="5" name="Text 2"/>
          <p:cNvSpPr/>
          <p:nvPr>
            <p:ph idx="103" type="title" hasCustomPrompt="1"/>
          </p:nvPr>
        </p:nvSpPr>
        <p:spPr>
          <a:xfrm>
            <a:off x="548640" y="347472"/>
            <a:ext cx="10424160" cy="685800"/>
          </a:xfrm>
          <a:prstGeom prst="rect">
            <a:avLst/>
          </a:prstGeom>
          <a:noFill/>
          <a:ln/>
        </p:spPr>
        <p:txBody>
          <a:bodyPr wrap="square" rtlCol="0"/>
          <a:lstStyle>
            <a:lvl1pPr indent="0" marL="0">
              <a:buNone/>
              <a:defRPr lang="en-US" sz="3400" b="1" dirty="0">
                <a:solidFill>
                  <a:srgbClr val="EDEDF0"/>
                </a:solidFill>
                <a:latin typeface="Cambria" pitchFamily="34" charset="0"/>
                <a:ea typeface="Cambria" pitchFamily="34" charset="-122"/>
                <a:cs typeface="Cambria" pitchFamily="34" charset="-120"/>
              </a:defRPr>
            </a:lvl1pPr>
          </a:lstStyle>
          <a:p>
            <a:pPr indent="0" marL="0">
              <a:buNone/>
            </a:pPr>
            <a:r>
              <a:rPr lang="en-US" sz="3400" b="1" dirty="0">
                <a:solidFill>
                  <a:srgbClr val="EDEDF0"/>
                </a:solidFill>
                <a:latin typeface="Cambria" pitchFamily="34" charset="0"/>
                <a:ea typeface="Cambria" pitchFamily="34" charset="-122"/>
                <a:cs typeface="Cambria" pitchFamily="34" charset="-120"/>
              </a:rPr>
              <a:t>Slide title</a:t>
            </a: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ppt/charts/chart3.xml"/><Relationship Id="rId1" Type="http://schemas.openxmlformats.org/officeDocument/2006/relationships/image" Target="../media/image-6-1.jpg"/><Relationship Id="rId2" Type="http://schemas.openxmlformats.org/officeDocument/2006/relationships/image" Target="../media/image-6-2.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C:\Users\KIRAN\.claude\calde\hacknex-3d\deck\assets\demo_45.jpg">    </p:cNvPr>
          <p:cNvPicPr>
            <a:picLocks noChangeAspect="1"/>
          </p:cNvPicPr>
          <p:nvPr/>
        </p:nvPicPr>
        <p:blipFill>
          <a:blip r:embed="rId1"/>
          <a:stretch>
            <a:fillRect/>
          </a:stretch>
        </p:blipFill>
        <p:spPr>
          <a:xfrm>
            <a:off x="5989320" y="502920"/>
            <a:ext cx="5669280" cy="2807208"/>
          </a:xfrm>
          <a:prstGeom prst="rect">
            <a:avLst/>
          </a:prstGeom>
        </p:spPr>
      </p:pic>
      <p:pic>
        <p:nvPicPr>
          <p:cNvPr id="3" name="hero-generated" descr="C:\Users\KIRAN\.claude\calde\hacknex-3d\deck\assets\ceiling_magenta.jpg">    </p:cNvPr>
          <p:cNvPicPr>
            <a:picLocks noChangeAspect="1"/>
          </p:cNvPicPr>
          <p:nvPr/>
        </p:nvPicPr>
        <p:blipFill>
          <a:blip r:embed="rId2"/>
          <a:srcRect l="0" r="0" t="0" b="0"/>
          <a:stretch/>
        </p:blipFill>
        <p:spPr>
          <a:xfrm>
            <a:off x="5989320" y="3456432"/>
            <a:ext cx="2761488" cy="1371600"/>
          </a:xfrm>
          <a:prstGeom prst="rect">
            <a:avLst/>
          </a:prstGeom>
        </p:spPr>
      </p:pic>
      <p:pic>
        <p:nvPicPr>
          <p:cNvPr id="4" name="hero-compare" descr="C:\Users\KIRAN\.claude\calde\hacknex-3d\deck\assets\demo_400.jpg">    </p:cNvPr>
          <p:cNvPicPr>
            <a:picLocks noChangeAspect="1"/>
          </p:cNvPicPr>
          <p:nvPr/>
        </p:nvPicPr>
        <p:blipFill>
          <a:blip r:embed="rId3"/>
          <a:stretch>
            <a:fillRect/>
          </a:stretch>
        </p:blipFill>
        <p:spPr>
          <a:xfrm>
            <a:off x="8897112" y="3456432"/>
            <a:ext cx="2761488" cy="1371600"/>
          </a:xfrm>
          <a:prstGeom prst="rect">
            <a:avLst/>
          </a:prstGeom>
        </p:spPr>
      </p:pic>
      <p:sp>
        <p:nvSpPr>
          <p:cNvPr id="5" name="Text 0"/>
          <p:cNvSpPr txBox="1"/>
          <p:nvPr/>
        </p:nvSpPr>
        <p:spPr>
          <a:xfrm>
            <a:off x="548640" y="1417320"/>
            <a:ext cx="5120640" cy="320040"/>
          </a:xfrm>
          <a:prstGeom prst="rect">
            <a:avLst/>
          </a:prstGeom>
          <a:noFill/>
          <a:ln/>
        </p:spPr>
        <p:txBody>
          <a:bodyPr wrap="square" lIns="0" tIns="0" rIns="0" bIns="0" rtlCol="0" anchor="t"/>
          <a:lstStyle/>
          <a:p>
            <a:pPr indent="0" marL="0">
              <a:buNone/>
            </a:pPr>
            <a:r>
              <a:rPr lang="en-US" sz="1300" dirty="0">
                <a:solidFill>
                  <a:schemeClr val="bg2"/>
                </a:solidFill>
              </a:rPr>
              <a:t>HackNex 2026  |  HNX26EPS06  |  Mode B (+ Mode A bonus)</a:t>
            </a:r>
            <a:endParaRPr lang="en-US" sz="1300" dirty="0"/>
          </a:p>
        </p:txBody>
      </p:sp>
      <p:sp>
        <p:nvSpPr>
          <p:cNvPr id="6" name="Text 1"/>
          <p:cNvSpPr txBox="1"/>
          <p:nvPr/>
        </p:nvSpPr>
        <p:spPr>
          <a:xfrm>
            <a:off x="548640" y="1783080"/>
            <a:ext cx="512064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RoomFill</a:t>
            </a:r>
            <a:endParaRPr lang="en-US" sz="5400" dirty="0"/>
          </a:p>
        </p:txBody>
      </p:sp>
      <p:sp>
        <p:nvSpPr>
          <p:cNvPr id="7" name="Text 2"/>
          <p:cNvSpPr txBox="1"/>
          <p:nvPr/>
        </p:nvSpPr>
        <p:spPr>
          <a:xfrm>
            <a:off x="548640" y="2743200"/>
            <a:ext cx="5120640" cy="1005840"/>
          </a:xfrm>
          <a:prstGeom prst="rect">
            <a:avLst/>
          </a:prstGeom>
          <a:noFill/>
          <a:ln/>
        </p:spPr>
        <p:txBody>
          <a:bodyPr wrap="square" lIns="0" tIns="0" rIns="0" bIns="0" rtlCol="0" anchor="t"/>
          <a:lstStyle/>
          <a:p>
            <a:pPr indent="0" marL="0">
              <a:buNone/>
            </a:pPr>
            <a:r>
              <a:rPr lang="en-US" sz="1800" dirty="0">
                <a:solidFill>
                  <a:schemeClr val="bg1"/>
                </a:solidFill>
              </a:rPr>
              <a:t>A 51-second phone video becomes a metric, walkable 3D room. </a:t>
            </a:r>
            <a:pPr indent="0" marL="0">
              <a:buNone/>
            </a:pPr>
            <a:r>
              <a:rPr lang="en-US" sz="1800" i="1" dirty="0">
                <a:solidFill>
                  <a:schemeClr val="accent1"/>
                </a:solidFill>
              </a:rPr>
              <a:t>Surfaces the camera never saw are filled in and marked as generated.</a:t>
            </a:r>
            <a:endParaRPr lang="en-US" sz="1800" dirty="0"/>
          </a:p>
        </p:txBody>
      </p:sp>
      <p:sp>
        <p:nvSpPr>
          <p:cNvPr id="8" name="stat-0"/>
          <p:cNvSpPr/>
          <p:nvPr/>
        </p:nvSpPr>
        <p:spPr>
          <a:xfrm>
            <a:off x="548640" y="4069080"/>
            <a:ext cx="1600200" cy="1325880"/>
          </a:xfrm>
          <a:prstGeom prst="roundRect">
            <a:avLst>
              <a:gd name="adj" fmla="val 8276"/>
            </a:avLst>
          </a:prstGeom>
          <a:solidFill>
            <a:schemeClr val="tx2"/>
          </a:solidFill>
          <a:ln w="9525">
            <a:solidFill>
              <a:srgbClr val="2A2D36"/>
            </a:solidFill>
            <a:prstDash val="solid"/>
          </a:ln>
        </p:spPr>
      </p:sp>
      <p:sp>
        <p:nvSpPr>
          <p:cNvPr id="9" name="Text 4"/>
          <p:cNvSpPr txBox="1"/>
          <p:nvPr/>
        </p:nvSpPr>
        <p:spPr>
          <a:xfrm>
            <a:off x="685800" y="4160520"/>
            <a:ext cx="137160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15.5 cm</a:t>
            </a:r>
            <a:endParaRPr lang="en-US" sz="2600" dirty="0"/>
          </a:p>
        </p:txBody>
      </p:sp>
      <p:sp>
        <p:nvSpPr>
          <p:cNvPr id="10" name="Text 5"/>
          <p:cNvSpPr txBox="1"/>
          <p:nvPr/>
        </p:nvSpPr>
        <p:spPr>
          <a:xfrm>
            <a:off x="685800" y="4709160"/>
            <a:ext cx="1417320" cy="640080"/>
          </a:xfrm>
          <a:prstGeom prst="rect">
            <a:avLst/>
          </a:prstGeom>
          <a:noFill/>
          <a:ln/>
        </p:spPr>
        <p:txBody>
          <a:bodyPr wrap="square" lIns="0" tIns="0" rIns="0" bIns="0" rtlCol="0" anchor="t"/>
          <a:lstStyle/>
          <a:p>
            <a:pPr indent="0" marL="0">
              <a:buNone/>
            </a:pPr>
            <a:r>
              <a:rPr lang="en-US" sz="1100" dirty="0">
                <a:solidFill>
                  <a:schemeClr val="bg2"/>
                </a:solidFill>
              </a:rPr>
              <a:t>Chamfer to the real room</a:t>
            </a:r>
            <a:endParaRPr lang="en-US" sz="1100" dirty="0"/>
          </a:p>
          <a:p>
            <a:pPr indent="0" marL="0">
              <a:buNone/>
            </a:pPr>
            <a:r>
              <a:rPr lang="en-US" sz="1100" dirty="0">
                <a:solidFill>
                  <a:schemeClr val="bg2"/>
                </a:solidFill>
              </a:rPr>
              <a:t>(baseline 22.2 cm)</a:t>
            </a:r>
            <a:endParaRPr lang="en-US" sz="1100" dirty="0"/>
          </a:p>
        </p:txBody>
      </p:sp>
      <p:sp>
        <p:nvSpPr>
          <p:cNvPr id="11" name="stat-1"/>
          <p:cNvSpPr/>
          <p:nvPr/>
        </p:nvSpPr>
        <p:spPr>
          <a:xfrm>
            <a:off x="2286000" y="4069080"/>
            <a:ext cx="1600200" cy="1325880"/>
          </a:xfrm>
          <a:prstGeom prst="roundRect">
            <a:avLst>
              <a:gd name="adj" fmla="val 8276"/>
            </a:avLst>
          </a:prstGeom>
          <a:solidFill>
            <a:schemeClr val="tx2"/>
          </a:solidFill>
          <a:ln w="9525">
            <a:solidFill>
              <a:srgbClr val="2A2D36"/>
            </a:solidFill>
            <a:prstDash val="solid"/>
          </a:ln>
        </p:spPr>
      </p:sp>
      <p:sp>
        <p:nvSpPr>
          <p:cNvPr id="12" name="Text 7"/>
          <p:cNvSpPr txBox="1"/>
          <p:nvPr/>
        </p:nvSpPr>
        <p:spPr>
          <a:xfrm>
            <a:off x="2423160" y="4160520"/>
            <a:ext cx="137160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90%</a:t>
            </a:r>
            <a:endParaRPr lang="en-US" sz="2600" dirty="0"/>
          </a:p>
        </p:txBody>
      </p:sp>
      <p:sp>
        <p:nvSpPr>
          <p:cNvPr id="13" name="Text 8"/>
          <p:cNvSpPr txBox="1"/>
          <p:nvPr/>
        </p:nvSpPr>
        <p:spPr>
          <a:xfrm>
            <a:off x="2423160" y="4709160"/>
            <a:ext cx="1417320" cy="640080"/>
          </a:xfrm>
          <a:prstGeom prst="rect">
            <a:avLst/>
          </a:prstGeom>
          <a:noFill/>
          <a:ln/>
        </p:spPr>
        <p:txBody>
          <a:bodyPr wrap="square" lIns="0" tIns="0" rIns="0" bIns="0" rtlCol="0" anchor="t"/>
          <a:lstStyle/>
          <a:p>
            <a:pPr indent="0" marL="0">
              <a:buNone/>
            </a:pPr>
            <a:r>
              <a:rPr lang="en-US" sz="1100" dirty="0">
                <a:solidFill>
                  <a:schemeClr val="bg2"/>
                </a:solidFill>
              </a:rPr>
              <a:t>of true surfaces covered</a:t>
            </a:r>
            <a:endParaRPr lang="en-US" sz="1100" dirty="0"/>
          </a:p>
          <a:p>
            <a:pPr indent="0" marL="0">
              <a:buNone/>
            </a:pPr>
            <a:r>
              <a:rPr lang="en-US" sz="1100" dirty="0">
                <a:solidFill>
                  <a:schemeClr val="bg2"/>
                </a:solidFill>
              </a:rPr>
              <a:t>(baseline 52%)</a:t>
            </a:r>
            <a:endParaRPr lang="en-US" sz="1100" dirty="0"/>
          </a:p>
        </p:txBody>
      </p:sp>
      <p:sp>
        <p:nvSpPr>
          <p:cNvPr id="14" name="stat-2"/>
          <p:cNvSpPr/>
          <p:nvPr/>
        </p:nvSpPr>
        <p:spPr>
          <a:xfrm>
            <a:off x="4023360" y="4069080"/>
            <a:ext cx="1600200" cy="1325880"/>
          </a:xfrm>
          <a:prstGeom prst="roundRect">
            <a:avLst>
              <a:gd name="adj" fmla="val 8276"/>
            </a:avLst>
          </a:prstGeom>
          <a:solidFill>
            <a:schemeClr val="tx2"/>
          </a:solidFill>
          <a:ln w="9525">
            <a:solidFill>
              <a:srgbClr val="2A2D36"/>
            </a:solidFill>
            <a:prstDash val="solid"/>
          </a:ln>
        </p:spPr>
      </p:sp>
      <p:sp>
        <p:nvSpPr>
          <p:cNvPr id="15" name="Text 10"/>
          <p:cNvSpPr txBox="1"/>
          <p:nvPr/>
        </p:nvSpPr>
        <p:spPr>
          <a:xfrm>
            <a:off x="4160520" y="4160520"/>
            <a:ext cx="1371600" cy="54864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a:t>
            </a:r>
            <a:endParaRPr lang="en-US" sz="2600" dirty="0"/>
          </a:p>
        </p:txBody>
      </p:sp>
      <p:sp>
        <p:nvSpPr>
          <p:cNvPr id="16" name="Text 11"/>
          <p:cNvSpPr txBox="1"/>
          <p:nvPr/>
        </p:nvSpPr>
        <p:spPr>
          <a:xfrm>
            <a:off x="4160520" y="4709160"/>
            <a:ext cx="1417320" cy="640080"/>
          </a:xfrm>
          <a:prstGeom prst="rect">
            <a:avLst/>
          </a:prstGeom>
          <a:noFill/>
          <a:ln/>
        </p:spPr>
        <p:txBody>
          <a:bodyPr wrap="square" lIns="0" tIns="0" rIns="0" bIns="0" rtlCol="0" anchor="t"/>
          <a:lstStyle/>
          <a:p>
            <a:pPr indent="0" marL="0">
              <a:buNone/>
            </a:pPr>
            <a:r>
              <a:rPr lang="en-US" sz="1100" dirty="0">
                <a:solidFill>
                  <a:schemeClr val="bg2"/>
                </a:solidFill>
              </a:rPr>
              <a:t>LLMs used</a:t>
            </a:r>
            <a:endParaRPr lang="en-US" sz="1100" dirty="0"/>
          </a:p>
          <a:p>
            <a:pPr indent="0" marL="0">
              <a:buNone/>
            </a:pPr>
            <a:r>
              <a:rPr lang="en-US" sz="1100" dirty="0">
                <a:solidFill>
                  <a:schemeClr val="bg2"/>
                </a:solidFill>
              </a:rPr>
              <a:t>Rs 0 API cost</a:t>
            </a:r>
            <a:endParaRPr lang="en-US" sz="1100" dirty="0"/>
          </a:p>
        </p:txBody>
      </p:sp>
      <p:sp>
        <p:nvSpPr>
          <p:cNvPr id="17" name="Text 12"/>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dirty="0">
                <a:solidFill>
                  <a:schemeClr val="bg2"/>
                </a:solidFill>
              </a:rPr>
              <a:t>Live demo: kiran120627-hub.github.io/roomfill/viewer      Code: github.com/kiran120627-hub/roomfill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Completing the unseen is the hard part</a:t>
            </a:r>
            <a:endParaRPr lang="en-US" sz="3400" dirty="0"/>
          </a:p>
        </p:txBody>
      </p:sp>
      <p:sp>
        <p:nvSpPr>
          <p:cNvPr id="3" name="problem-card"/>
          <p:cNvSpPr/>
          <p:nvPr/>
        </p:nvSpPr>
        <p:spPr>
          <a:xfrm>
            <a:off x="548640" y="1325880"/>
            <a:ext cx="5349240" cy="3794760"/>
          </a:xfrm>
          <a:prstGeom prst="roundRect">
            <a:avLst>
              <a:gd name="adj" fmla="val 2892"/>
            </a:avLst>
          </a:prstGeom>
          <a:solidFill>
            <a:schemeClr val="tx2"/>
          </a:solidFill>
          <a:ln w="9525">
            <a:solidFill>
              <a:srgbClr val="2A2D36"/>
            </a:solidFill>
            <a:prstDash val="solid"/>
          </a:ln>
        </p:spPr>
      </p:sp>
      <p:sp>
        <p:nvSpPr>
          <p:cNvPr id="4" name="Text 2"/>
          <p:cNvSpPr txBox="1"/>
          <p:nvPr/>
        </p:nvSpPr>
        <p:spPr>
          <a:xfrm>
            <a:off x="868680" y="1554480"/>
            <a:ext cx="475488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The problem</a:t>
            </a:r>
            <a:endParaRPr lang="en-US" sz="2000" dirty="0"/>
          </a:p>
        </p:txBody>
      </p:sp>
      <p:sp>
        <p:nvSpPr>
          <p:cNvPr id="5" name="dot-1"/>
          <p:cNvSpPr/>
          <p:nvPr/>
        </p:nvSpPr>
        <p:spPr>
          <a:xfrm>
            <a:off x="868680" y="2148840"/>
            <a:ext cx="384048" cy="384048"/>
          </a:xfrm>
          <a:prstGeom prst="ellipse">
            <a:avLst/>
          </a:prstGeom>
          <a:solidFill>
            <a:schemeClr val="bg2"/>
          </a:solidFill>
          <a:ln w="12700">
            <a:solidFill>
              <a:schemeClr val="bg2"/>
            </a:solidFill>
            <a:prstDash val="solid"/>
          </a:ln>
        </p:spPr>
      </p:sp>
      <p:sp>
        <p:nvSpPr>
          <p:cNvPr id="6" name="Text 4"/>
          <p:cNvSpPr txBox="1"/>
          <p:nvPr/>
        </p:nvSpPr>
        <p:spPr>
          <a:xfrm>
            <a:off x="868680" y="21488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5"/>
          <p:cNvSpPr txBox="1"/>
          <p:nvPr/>
        </p:nvSpPr>
        <p:spPr>
          <a:xfrm>
            <a:off x="1417320" y="2103120"/>
            <a:ext cx="4251960" cy="822960"/>
          </a:xfrm>
          <a:prstGeom prst="rect">
            <a:avLst/>
          </a:prstGeom>
          <a:noFill/>
          <a:ln/>
        </p:spPr>
        <p:txBody>
          <a:bodyPr wrap="square" lIns="0" tIns="0" rIns="0" bIns="0" rtlCol="0" anchor="t"/>
          <a:lstStyle/>
          <a:p>
            <a:pPr indent="0" marL="0">
              <a:buNone/>
            </a:pPr>
            <a:r>
              <a:rPr lang="en-US" sz="1500" dirty="0">
                <a:solidFill>
                  <a:schemeClr val="bg1"/>
                </a:solidFill>
              </a:rPr>
              <a:t>Standard 3D Gaussian Splatting leaves holes and floaters wherever the camera did not look</a:t>
            </a:r>
            <a:endParaRPr lang="en-US" sz="1500" dirty="0"/>
          </a:p>
        </p:txBody>
      </p:sp>
      <p:sp>
        <p:nvSpPr>
          <p:cNvPr id="8" name="dot-2"/>
          <p:cNvSpPr/>
          <p:nvPr/>
        </p:nvSpPr>
        <p:spPr>
          <a:xfrm>
            <a:off x="868680" y="3063240"/>
            <a:ext cx="384048" cy="384048"/>
          </a:xfrm>
          <a:prstGeom prst="ellipse">
            <a:avLst/>
          </a:prstGeom>
          <a:solidFill>
            <a:schemeClr val="bg2"/>
          </a:solidFill>
          <a:ln w="12700">
            <a:solidFill>
              <a:schemeClr val="bg2"/>
            </a:solidFill>
            <a:prstDash val="solid"/>
          </a:ln>
        </p:spPr>
      </p:sp>
      <p:sp>
        <p:nvSpPr>
          <p:cNvPr id="9" name="Text 7"/>
          <p:cNvSpPr txBox="1"/>
          <p:nvPr/>
        </p:nvSpPr>
        <p:spPr>
          <a:xfrm>
            <a:off x="868680" y="30632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Text 8"/>
          <p:cNvSpPr txBox="1"/>
          <p:nvPr/>
        </p:nvSpPr>
        <p:spPr>
          <a:xfrm>
            <a:off x="1417320" y="3017520"/>
            <a:ext cx="4251960" cy="822960"/>
          </a:xfrm>
          <a:prstGeom prst="rect">
            <a:avLst/>
          </a:prstGeom>
          <a:noFill/>
          <a:ln/>
        </p:spPr>
        <p:txBody>
          <a:bodyPr wrap="square" lIns="0" tIns="0" rIns="0" bIns="0" rtlCol="0" anchor="t"/>
          <a:lstStyle/>
          <a:p>
            <a:pPr indent="0" marL="0">
              <a:buNone/>
            </a:pPr>
            <a:r>
              <a:rPr lang="en-US" sz="1500" dirty="0">
                <a:solidFill>
                  <a:schemeClr val="bg1"/>
                </a:solidFill>
              </a:rPr>
              <a:t>It has no real-world scale, so a room cannot be measured</a:t>
            </a:r>
            <a:endParaRPr lang="en-US" sz="1500" dirty="0"/>
          </a:p>
        </p:txBody>
      </p:sp>
      <p:sp>
        <p:nvSpPr>
          <p:cNvPr id="11" name="dot-3"/>
          <p:cNvSpPr/>
          <p:nvPr/>
        </p:nvSpPr>
        <p:spPr>
          <a:xfrm>
            <a:off x="868680" y="3977640"/>
            <a:ext cx="384048" cy="384048"/>
          </a:xfrm>
          <a:prstGeom prst="ellipse">
            <a:avLst/>
          </a:prstGeom>
          <a:solidFill>
            <a:schemeClr val="bg2"/>
          </a:solidFill>
          <a:ln w="12700">
            <a:solidFill>
              <a:schemeClr val="bg2"/>
            </a:solidFill>
            <a:prstDash val="solid"/>
          </a:ln>
        </p:spPr>
      </p:sp>
      <p:sp>
        <p:nvSpPr>
          <p:cNvPr id="12" name="Text 10"/>
          <p:cNvSpPr txBox="1"/>
          <p:nvPr/>
        </p:nvSpPr>
        <p:spPr>
          <a:xfrm>
            <a:off x="868680" y="3977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 11"/>
          <p:cNvSpPr txBox="1"/>
          <p:nvPr/>
        </p:nvSpPr>
        <p:spPr>
          <a:xfrm>
            <a:off x="1417320" y="3931920"/>
            <a:ext cx="4251960" cy="822960"/>
          </a:xfrm>
          <a:prstGeom prst="rect">
            <a:avLst/>
          </a:prstGeom>
          <a:noFill/>
          <a:ln/>
        </p:spPr>
        <p:txBody>
          <a:bodyPr wrap="square" lIns="0" tIns="0" rIns="0" bIns="0" rtlCol="0" anchor="t"/>
          <a:lstStyle/>
          <a:p>
            <a:pPr indent="0" marL="0">
              <a:buNone/>
            </a:pPr>
            <a:r>
              <a:rPr lang="en-US" sz="1500" dirty="0">
                <a:solidFill>
                  <a:schemeClr val="bg1"/>
                </a:solidFill>
              </a:rPr>
              <a:t>It gives no signal about which parts were actually seen, so guesses look like facts</a:t>
            </a:r>
            <a:endParaRPr lang="en-US" sz="1500" dirty="0"/>
          </a:p>
        </p:txBody>
      </p:sp>
      <p:sp>
        <p:nvSpPr>
          <p:cNvPr id="14" name="idea-card"/>
          <p:cNvSpPr/>
          <p:nvPr/>
        </p:nvSpPr>
        <p:spPr>
          <a:xfrm>
            <a:off x="6263640" y="1325880"/>
            <a:ext cx="5349240" cy="3794760"/>
          </a:xfrm>
          <a:prstGeom prst="roundRect">
            <a:avLst>
              <a:gd name="adj" fmla="val 2892"/>
            </a:avLst>
          </a:prstGeom>
          <a:solidFill>
            <a:schemeClr val="tx2"/>
          </a:solidFill>
          <a:ln w="9525">
            <a:solidFill>
              <a:srgbClr val="2A2D36"/>
            </a:solidFill>
            <a:prstDash val="solid"/>
          </a:ln>
        </p:spPr>
      </p:sp>
      <p:sp>
        <p:nvSpPr>
          <p:cNvPr id="15" name="Text 13"/>
          <p:cNvSpPr txBox="1"/>
          <p:nvPr/>
        </p:nvSpPr>
        <p:spPr>
          <a:xfrm>
            <a:off x="6583680" y="1554480"/>
            <a:ext cx="47548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Our idea</a:t>
            </a:r>
            <a:endParaRPr lang="en-US" sz="2000" dirty="0"/>
          </a:p>
        </p:txBody>
      </p:sp>
      <p:sp>
        <p:nvSpPr>
          <p:cNvPr id="16" name="dot-1"/>
          <p:cNvSpPr/>
          <p:nvPr/>
        </p:nvSpPr>
        <p:spPr>
          <a:xfrm>
            <a:off x="6583680" y="214884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6583680" y="21488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Text 16"/>
          <p:cNvSpPr txBox="1"/>
          <p:nvPr/>
        </p:nvSpPr>
        <p:spPr>
          <a:xfrm>
            <a:off x="7132320" y="2103120"/>
            <a:ext cx="4251960" cy="822960"/>
          </a:xfrm>
          <a:prstGeom prst="rect">
            <a:avLst/>
          </a:prstGeom>
          <a:noFill/>
          <a:ln/>
        </p:spPr>
        <p:txBody>
          <a:bodyPr wrap="square" lIns="0" tIns="0" rIns="0" bIns="0" rtlCol="0" anchor="t"/>
          <a:lstStyle/>
          <a:p>
            <a:pPr indent="0" marL="0">
              <a:buNone/>
            </a:pPr>
            <a:r>
              <a:rPr lang="en-US" sz="1400" b="1" dirty="0">
                <a:solidFill>
                  <a:schemeClr val="bg1"/>
                </a:solidFill>
              </a:rPr>
              <a:t>Structure first  </a:t>
            </a:r>
            <a:pPr indent="0" marL="0">
              <a:buNone/>
            </a:pPr>
            <a:r>
              <a:rPr lang="en-US" sz="1400" dirty="0">
                <a:solidFill>
                  <a:schemeClr val="bg2"/>
                </a:solidFill>
              </a:rPr>
              <a:t>Fit the room shell (floor, ceiling, 4 walls) and complete only on it, so nothing floats in mid-air</a:t>
            </a:r>
            <a:endParaRPr lang="en-US" sz="1400" dirty="0"/>
          </a:p>
        </p:txBody>
      </p:sp>
      <p:sp>
        <p:nvSpPr>
          <p:cNvPr id="19" name="dot-2"/>
          <p:cNvSpPr/>
          <p:nvPr/>
        </p:nvSpPr>
        <p:spPr>
          <a:xfrm>
            <a:off x="6583680" y="3063240"/>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6583680" y="30632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Text 19"/>
          <p:cNvSpPr txBox="1"/>
          <p:nvPr/>
        </p:nvSpPr>
        <p:spPr>
          <a:xfrm>
            <a:off x="7132320" y="3017520"/>
            <a:ext cx="4251960" cy="822960"/>
          </a:xfrm>
          <a:prstGeom prst="rect">
            <a:avLst/>
          </a:prstGeom>
          <a:noFill/>
          <a:ln/>
        </p:spPr>
        <p:txBody>
          <a:bodyPr wrap="square" lIns="0" tIns="0" rIns="0" bIns="0" rtlCol="0" anchor="t"/>
          <a:lstStyle/>
          <a:p>
            <a:pPr indent="0" marL="0">
              <a:buNone/>
            </a:pPr>
            <a:r>
              <a:rPr lang="en-US" sz="1400" b="1" dirty="0">
                <a:solidFill>
                  <a:schemeClr val="bg1"/>
                </a:solidFill>
              </a:rPr>
              <a:t>See before you fill  </a:t>
            </a:r>
            <a:pPr indent="0" marL="0">
              <a:buNone/>
            </a:pPr>
            <a:r>
              <a:rPr lang="en-US" sz="1400" dirty="0">
                <a:solidFill>
                  <a:schemeClr val="bg2"/>
                </a:solidFill>
              </a:rPr>
              <a:t>Every shell point is checked against all camera views; only never-seen points are generated</a:t>
            </a:r>
            <a:endParaRPr lang="en-US" sz="1400" dirty="0"/>
          </a:p>
        </p:txBody>
      </p:sp>
      <p:sp>
        <p:nvSpPr>
          <p:cNvPr id="22" name="dot-3"/>
          <p:cNvSpPr/>
          <p:nvPr/>
        </p:nvSpPr>
        <p:spPr>
          <a:xfrm>
            <a:off x="6583680" y="3977640"/>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6583680" y="3977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Text 22"/>
          <p:cNvSpPr txBox="1"/>
          <p:nvPr/>
        </p:nvSpPr>
        <p:spPr>
          <a:xfrm>
            <a:off x="7132320" y="3931920"/>
            <a:ext cx="4251960" cy="822960"/>
          </a:xfrm>
          <a:prstGeom prst="rect">
            <a:avLst/>
          </a:prstGeom>
          <a:noFill/>
          <a:ln/>
        </p:spPr>
        <p:txBody>
          <a:bodyPr wrap="square" lIns="0" tIns="0" rIns="0" bIns="0" rtlCol="0" anchor="t"/>
          <a:lstStyle/>
          <a:p>
            <a:pPr indent="0" marL="0">
              <a:buNone/>
            </a:pPr>
            <a:r>
              <a:rPr lang="en-US" sz="1400" b="1" dirty="0">
                <a:solidFill>
                  <a:schemeClr val="bg1"/>
                </a:solidFill>
              </a:rPr>
              <a:t>Honest by design  </a:t>
            </a:r>
            <a:pPr indent="0" marL="0">
              <a:buNone/>
            </a:pPr>
            <a:r>
              <a:rPr lang="en-US" sz="1400" dirty="0">
                <a:solidFill>
                  <a:schemeClr val="bg2"/>
                </a:solidFill>
              </a:rPr>
              <a:t>Each 3D point carries a generated flag and confidence, kept in every exported file</a:t>
            </a:r>
            <a:endParaRPr lang="en-US" sz="1400" dirty="0"/>
          </a:p>
        </p:txBody>
      </p:sp>
      <p:sp>
        <p:nvSpPr>
          <p:cNvPr id="25" name="no-llm"/>
          <p:cNvSpPr/>
          <p:nvPr/>
        </p:nvSpPr>
        <p:spPr>
          <a:xfrm>
            <a:off x="548640" y="5349240"/>
            <a:ext cx="11064240" cy="868680"/>
          </a:xfrm>
          <a:prstGeom prst="roundRect">
            <a:avLst>
              <a:gd name="adj" fmla="val 12632"/>
            </a:avLst>
          </a:prstGeom>
          <a:solidFill>
            <a:schemeClr val="accent5"/>
          </a:solidFill>
          <a:ln w="9525">
            <a:solidFill>
              <a:srgbClr val="2A2D36"/>
            </a:solidFill>
            <a:prstDash val="solid"/>
          </a:ln>
        </p:spPr>
      </p:sp>
      <p:sp>
        <p:nvSpPr>
          <p:cNvPr id="26" name="Text 24"/>
          <p:cNvSpPr txBox="1"/>
          <p:nvPr/>
        </p:nvSpPr>
        <p:spPr>
          <a:xfrm>
            <a:off x="868680" y="5440680"/>
            <a:ext cx="10515600" cy="713232"/>
          </a:xfrm>
          <a:prstGeom prst="rect">
            <a:avLst/>
          </a:prstGeom>
          <a:noFill/>
          <a:ln/>
        </p:spPr>
        <p:txBody>
          <a:bodyPr wrap="square" lIns="0" tIns="0" rIns="0" bIns="0" rtlCol="0" anchor="ctr"/>
          <a:lstStyle/>
          <a:p>
            <a:pPr indent="0" marL="0">
              <a:buNone/>
            </a:pPr>
            <a:r>
              <a:rPr lang="en-US" sz="1400" b="1" dirty="0">
                <a:solidFill>
                  <a:schemeClr val="accent2"/>
                </a:solidFill>
              </a:rPr>
              <a:t>No LLM in the system.  </a:t>
            </a:r>
            <a:pPr indent="0" marL="0">
              <a:buNone/>
            </a:pPr>
            <a:r>
              <a:rPr lang="en-US" sz="1400" dirty="0">
                <a:solidFill>
                  <a:schemeClr val="bg1"/>
                </a:solidFill>
              </a:rPr>
              <a:t>RoomFill uses classic geometry (COLMAP), per-scene neural rendering (3D Gaussian Splatting) and two vision models (LaMa inpainting, Depth Anything V2), all running locally on one laptop GPU. No ChatGPT, Claude or Gemini calls; Rs 0 API cost.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System architecture</a:t>
            </a:r>
            <a:endParaRPr lang="en-US" sz="3400" dirty="0"/>
          </a:p>
        </p:txBody>
      </p:sp>
      <p:sp>
        <p:nvSpPr>
          <p:cNvPr id="3" name="Text 1"/>
          <p:cNvSpPr txBox="1"/>
          <p:nvPr/>
        </p:nvSpPr>
        <p:spPr>
          <a:xfrm>
            <a:off x="548640" y="1261872"/>
            <a:ext cx="1097280" cy="274320"/>
          </a:xfrm>
          <a:prstGeom prst="rect">
            <a:avLst/>
          </a:prstGeom>
          <a:noFill/>
          <a:ln/>
        </p:spPr>
        <p:txBody>
          <a:bodyPr wrap="square" lIns="0" tIns="0" rIns="0" bIns="0" rtlCol="0" anchor="t"/>
          <a:lstStyle/>
          <a:p>
            <a:pPr indent="0" marL="0">
              <a:buNone/>
            </a:pPr>
            <a:r>
              <a:rPr lang="en-US" sz="1100" b="1" dirty="0">
                <a:solidFill>
                  <a:schemeClr val="bg2"/>
                </a:solidFill>
              </a:rPr>
              <a:t>INPUTS</a:t>
            </a:r>
            <a:endParaRPr lang="en-US" sz="1100" dirty="0"/>
          </a:p>
        </p:txBody>
      </p:sp>
      <p:sp>
        <p:nvSpPr>
          <p:cNvPr id="4" name="input-0"/>
          <p:cNvSpPr/>
          <p:nvPr/>
        </p:nvSpPr>
        <p:spPr>
          <a:xfrm>
            <a:off x="1600200" y="1188720"/>
            <a:ext cx="2286000" cy="411480"/>
          </a:xfrm>
          <a:prstGeom prst="roundRect">
            <a:avLst>
              <a:gd name="adj" fmla="val 48889"/>
            </a:avLst>
          </a:prstGeom>
          <a:solidFill>
            <a:schemeClr val="tx2"/>
          </a:solidFill>
          <a:ln w="9525">
            <a:solidFill>
              <a:srgbClr val="6F7380"/>
            </a:solidFill>
            <a:prstDash val="solid"/>
          </a:ln>
        </p:spPr>
      </p:sp>
      <p:sp>
        <p:nvSpPr>
          <p:cNvPr id="5" name="Text 3"/>
          <p:cNvSpPr txBox="1"/>
          <p:nvPr/>
        </p:nvSpPr>
        <p:spPr>
          <a:xfrm>
            <a:off x="1600200" y="1188720"/>
            <a:ext cx="2286000" cy="411480"/>
          </a:xfrm>
          <a:prstGeom prst="rect">
            <a:avLst/>
          </a:prstGeom>
          <a:noFill/>
          <a:ln/>
        </p:spPr>
        <p:txBody>
          <a:bodyPr wrap="square" lIns="0" tIns="0" rIns="0" bIns="0" rtlCol="0" anchor="ctr"/>
          <a:lstStyle/>
          <a:p>
            <a:pPr algn="ctr" indent="0" marL="0">
              <a:buNone/>
            </a:pPr>
            <a:r>
              <a:rPr lang="en-US" sz="1200" dirty="0">
                <a:solidFill>
                  <a:schemeClr val="bg1"/>
                </a:solidFill>
              </a:rPr>
              <a:t>Phone video (51 s)</a:t>
            </a:r>
            <a:endParaRPr lang="en-US" sz="1200" dirty="0"/>
          </a:p>
        </p:txBody>
      </p:sp>
      <p:sp>
        <p:nvSpPr>
          <p:cNvPr id="6" name="input-1"/>
          <p:cNvSpPr/>
          <p:nvPr/>
        </p:nvSpPr>
        <p:spPr>
          <a:xfrm>
            <a:off x="4114800" y="1188720"/>
            <a:ext cx="2286000" cy="411480"/>
          </a:xfrm>
          <a:prstGeom prst="roundRect">
            <a:avLst>
              <a:gd name="adj" fmla="val 48889"/>
            </a:avLst>
          </a:prstGeom>
          <a:solidFill>
            <a:schemeClr val="tx2"/>
          </a:solidFill>
          <a:ln w="9525">
            <a:solidFill>
              <a:srgbClr val="6F7380"/>
            </a:solidFill>
            <a:prstDash val="solid"/>
          </a:ln>
        </p:spPr>
      </p:sp>
      <p:sp>
        <p:nvSpPr>
          <p:cNvPr id="7" name="Text 5"/>
          <p:cNvSpPr txBox="1"/>
          <p:nvPr/>
        </p:nvSpPr>
        <p:spPr>
          <a:xfrm>
            <a:off x="4114800" y="1188720"/>
            <a:ext cx="2286000" cy="411480"/>
          </a:xfrm>
          <a:prstGeom prst="rect">
            <a:avLst/>
          </a:prstGeom>
          <a:noFill/>
          <a:ln/>
        </p:spPr>
        <p:txBody>
          <a:bodyPr wrap="square" lIns="0" tIns="0" rIns="0" bIns="0" rtlCol="0" anchor="ctr"/>
          <a:lstStyle/>
          <a:p>
            <a:pPr algn="ctr" indent="0" marL="0">
              <a:buNone/>
            </a:pPr>
            <a:r>
              <a:rPr lang="en-US" sz="1200" dirty="0">
                <a:solidFill>
                  <a:schemeClr val="bg1"/>
                </a:solidFill>
              </a:rPr>
              <a:t>5 held-out photos</a:t>
            </a:r>
            <a:endParaRPr lang="en-US" sz="1200" dirty="0"/>
          </a:p>
        </p:txBody>
      </p:sp>
      <p:sp>
        <p:nvSpPr>
          <p:cNvPr id="8" name="input-2"/>
          <p:cNvSpPr/>
          <p:nvPr/>
        </p:nvSpPr>
        <p:spPr>
          <a:xfrm>
            <a:off x="6629400" y="1188720"/>
            <a:ext cx="2286000" cy="411480"/>
          </a:xfrm>
          <a:prstGeom prst="roundRect">
            <a:avLst>
              <a:gd name="adj" fmla="val 48889"/>
            </a:avLst>
          </a:prstGeom>
          <a:solidFill>
            <a:schemeClr val="tx2"/>
          </a:solidFill>
          <a:ln w="9525">
            <a:solidFill>
              <a:srgbClr val="6F7380"/>
            </a:solidFill>
            <a:prstDash val="solid"/>
          </a:ln>
        </p:spPr>
      </p:sp>
      <p:sp>
        <p:nvSpPr>
          <p:cNvPr id="9" name="Text 7"/>
          <p:cNvSpPr txBox="1"/>
          <p:nvPr/>
        </p:nvSpPr>
        <p:spPr>
          <a:xfrm>
            <a:off x="6629400" y="1188720"/>
            <a:ext cx="2286000" cy="411480"/>
          </a:xfrm>
          <a:prstGeom prst="rect">
            <a:avLst/>
          </a:prstGeom>
          <a:noFill/>
          <a:ln/>
        </p:spPr>
        <p:txBody>
          <a:bodyPr wrap="square" lIns="0" tIns="0" rIns="0" bIns="0" rtlCol="0" anchor="ctr"/>
          <a:lstStyle/>
          <a:p>
            <a:pPr algn="ctr" indent="0" marL="0">
              <a:buNone/>
            </a:pPr>
            <a:r>
              <a:rPr lang="en-US" sz="1200" dirty="0">
                <a:solidFill>
                  <a:schemeClr val="bg1"/>
                </a:solidFill>
              </a:rPr>
              <a:t>Floor plan image</a:t>
            </a:r>
            <a:endParaRPr lang="en-US" sz="1200" dirty="0"/>
          </a:p>
        </p:txBody>
      </p:sp>
      <p:sp>
        <p:nvSpPr>
          <p:cNvPr id="10" name="input-3"/>
          <p:cNvSpPr/>
          <p:nvPr/>
        </p:nvSpPr>
        <p:spPr>
          <a:xfrm>
            <a:off x="9144000" y="1188720"/>
            <a:ext cx="2286000" cy="411480"/>
          </a:xfrm>
          <a:prstGeom prst="roundRect">
            <a:avLst>
              <a:gd name="adj" fmla="val 48889"/>
            </a:avLst>
          </a:prstGeom>
          <a:solidFill>
            <a:schemeClr val="tx2"/>
          </a:solidFill>
          <a:ln w="9525">
            <a:solidFill>
              <a:srgbClr val="6F7380"/>
            </a:solidFill>
            <a:prstDash val="solid"/>
          </a:ln>
        </p:spPr>
      </p:sp>
      <p:sp>
        <p:nvSpPr>
          <p:cNvPr id="11" name="Text 9"/>
          <p:cNvSpPr txBox="1"/>
          <p:nvPr/>
        </p:nvSpPr>
        <p:spPr>
          <a:xfrm>
            <a:off x="9144000" y="1188720"/>
            <a:ext cx="2286000" cy="411480"/>
          </a:xfrm>
          <a:prstGeom prst="rect">
            <a:avLst/>
          </a:prstGeom>
          <a:noFill/>
          <a:ln/>
        </p:spPr>
        <p:txBody>
          <a:bodyPr wrap="square" lIns="0" tIns="0" rIns="0" bIns="0" rtlCol="0" anchor="ctr"/>
          <a:lstStyle/>
          <a:p>
            <a:pPr algn="ctr" indent="0" marL="0">
              <a:buNone/>
            </a:pPr>
            <a:r>
              <a:rPr lang="en-US" sz="1200" dirty="0">
                <a:solidFill>
                  <a:schemeClr val="bg1"/>
                </a:solidFill>
              </a:rPr>
              <a:t>Tape measurements</a:t>
            </a:r>
            <a:endParaRPr lang="en-US" sz="1200" dirty="0"/>
          </a:p>
        </p:txBody>
      </p:sp>
      <p:sp>
        <p:nvSpPr>
          <p:cNvPr id="12" name="stage-1"/>
          <p:cNvSpPr/>
          <p:nvPr/>
        </p:nvSpPr>
        <p:spPr>
          <a:xfrm>
            <a:off x="548640" y="2011680"/>
            <a:ext cx="1993392" cy="960120"/>
          </a:xfrm>
          <a:prstGeom prst="roundRect">
            <a:avLst>
              <a:gd name="adj" fmla="val 11429"/>
            </a:avLst>
          </a:prstGeom>
          <a:solidFill>
            <a:schemeClr val="tx2"/>
          </a:solidFill>
          <a:ln w="9525">
            <a:solidFill>
              <a:srgbClr val="2A2D36"/>
            </a:solidFill>
            <a:prstDash val="solid"/>
          </a:ln>
        </p:spPr>
      </p:sp>
      <p:sp>
        <p:nvSpPr>
          <p:cNvPr id="13" name="Text 11"/>
          <p:cNvSpPr txBox="1"/>
          <p:nvPr/>
        </p:nvSpPr>
        <p:spPr>
          <a:xfrm>
            <a:off x="676656" y="2139696"/>
            <a:ext cx="1737360" cy="347472"/>
          </a:xfrm>
          <a:prstGeom prst="rect">
            <a:avLst/>
          </a:prstGeom>
          <a:noFill/>
          <a:ln/>
        </p:spPr>
        <p:txBody>
          <a:bodyPr wrap="square" lIns="0" tIns="0" rIns="0" bIns="0" rtlCol="0" anchor="t"/>
          <a:lstStyle/>
          <a:p>
            <a:pPr indent="0" marL="0">
              <a:buNone/>
            </a:pPr>
            <a:r>
              <a:rPr lang="en-US" sz="1300" b="1" dirty="0">
                <a:solidFill>
                  <a:schemeClr val="bg1"/>
                </a:solidFill>
              </a:rPr>
              <a:t>1  Frame selection</a:t>
            </a:r>
            <a:endParaRPr lang="en-US" sz="1300" dirty="0"/>
          </a:p>
        </p:txBody>
      </p:sp>
      <p:sp>
        <p:nvSpPr>
          <p:cNvPr id="14" name="Text 12"/>
          <p:cNvSpPr txBox="1"/>
          <p:nvPr/>
        </p:nvSpPr>
        <p:spPr>
          <a:xfrm>
            <a:off x="676656" y="2487168"/>
            <a:ext cx="1737360" cy="411480"/>
          </a:xfrm>
          <a:prstGeom prst="rect">
            <a:avLst/>
          </a:prstGeom>
          <a:noFill/>
          <a:ln/>
        </p:spPr>
        <p:txBody>
          <a:bodyPr wrap="square" lIns="0" tIns="0" rIns="0" bIns="0" rtlCol="0" anchor="t"/>
          <a:lstStyle/>
          <a:p>
            <a:pPr indent="0" marL="0">
              <a:buNone/>
            </a:pPr>
            <a:r>
              <a:rPr lang="en-US" sz="1100" dirty="0">
                <a:solidFill>
                  <a:schemeClr val="bg2"/>
                </a:solidFill>
              </a:rPr>
              <a:t>400 sharpest + 78 densified</a:t>
            </a:r>
            <a:endParaRPr lang="en-US" sz="1100" dirty="0"/>
          </a:p>
        </p:txBody>
      </p:sp>
      <p:sp>
        <p:nvSpPr>
          <p:cNvPr id="15" name="stage-2"/>
          <p:cNvSpPr/>
          <p:nvPr/>
        </p:nvSpPr>
        <p:spPr>
          <a:xfrm>
            <a:off x="2816352" y="2011680"/>
            <a:ext cx="1993392" cy="960120"/>
          </a:xfrm>
          <a:prstGeom prst="roundRect">
            <a:avLst>
              <a:gd name="adj" fmla="val 11429"/>
            </a:avLst>
          </a:prstGeom>
          <a:solidFill>
            <a:schemeClr val="tx2"/>
          </a:solidFill>
          <a:ln w="9525">
            <a:solidFill>
              <a:srgbClr val="2A2D36"/>
            </a:solidFill>
            <a:prstDash val="solid"/>
          </a:ln>
        </p:spPr>
      </p:sp>
      <p:sp>
        <p:nvSpPr>
          <p:cNvPr id="16" name="Text 14"/>
          <p:cNvSpPr txBox="1"/>
          <p:nvPr/>
        </p:nvSpPr>
        <p:spPr>
          <a:xfrm>
            <a:off x="2944368" y="2139696"/>
            <a:ext cx="1737360" cy="347472"/>
          </a:xfrm>
          <a:prstGeom prst="rect">
            <a:avLst/>
          </a:prstGeom>
          <a:noFill/>
          <a:ln/>
        </p:spPr>
        <p:txBody>
          <a:bodyPr wrap="square" lIns="0" tIns="0" rIns="0" bIns="0" rtlCol="0" anchor="t"/>
          <a:lstStyle/>
          <a:p>
            <a:pPr indent="0" marL="0">
              <a:buNone/>
            </a:pPr>
            <a:r>
              <a:rPr lang="en-US" sz="1300" b="1" dirty="0">
                <a:solidFill>
                  <a:schemeClr val="bg1"/>
                </a:solidFill>
              </a:rPr>
              <a:t>2  COLMAP SfM</a:t>
            </a:r>
            <a:endParaRPr lang="en-US" sz="1300" dirty="0"/>
          </a:p>
        </p:txBody>
      </p:sp>
      <p:sp>
        <p:nvSpPr>
          <p:cNvPr id="17" name="Text 15"/>
          <p:cNvSpPr txBox="1"/>
          <p:nvPr/>
        </p:nvSpPr>
        <p:spPr>
          <a:xfrm>
            <a:off x="2944368" y="2487168"/>
            <a:ext cx="1737360" cy="411480"/>
          </a:xfrm>
          <a:prstGeom prst="rect">
            <a:avLst/>
          </a:prstGeom>
          <a:noFill/>
          <a:ln/>
        </p:spPr>
        <p:txBody>
          <a:bodyPr wrap="square" lIns="0" tIns="0" rIns="0" bIns="0" rtlCol="0" anchor="t"/>
          <a:lstStyle/>
          <a:p>
            <a:pPr indent="0" marL="0">
              <a:buNone/>
            </a:pPr>
            <a:r>
              <a:rPr lang="en-US" sz="1100" dirty="0">
                <a:solidFill>
                  <a:schemeClr val="bg2"/>
                </a:solidFill>
              </a:rPr>
              <a:t>camera poses, 483 images</a:t>
            </a:r>
            <a:endParaRPr lang="en-US" sz="1100" dirty="0"/>
          </a:p>
        </p:txBody>
      </p:sp>
      <p:sp>
        <p:nvSpPr>
          <p:cNvPr id="18" name="stage-3"/>
          <p:cNvSpPr/>
          <p:nvPr/>
        </p:nvSpPr>
        <p:spPr>
          <a:xfrm>
            <a:off x="5084064" y="2011680"/>
            <a:ext cx="1993392" cy="960120"/>
          </a:xfrm>
          <a:prstGeom prst="roundRect">
            <a:avLst>
              <a:gd name="adj" fmla="val 11429"/>
            </a:avLst>
          </a:prstGeom>
          <a:solidFill>
            <a:schemeClr val="tx2"/>
          </a:solidFill>
          <a:ln w="9525">
            <a:solidFill>
              <a:srgbClr val="2A2D36"/>
            </a:solidFill>
            <a:prstDash val="solid"/>
          </a:ln>
        </p:spPr>
      </p:sp>
      <p:sp>
        <p:nvSpPr>
          <p:cNvPr id="19" name="Text 17"/>
          <p:cNvSpPr txBox="1"/>
          <p:nvPr/>
        </p:nvSpPr>
        <p:spPr>
          <a:xfrm>
            <a:off x="5212080" y="2139696"/>
            <a:ext cx="1737360" cy="347472"/>
          </a:xfrm>
          <a:prstGeom prst="rect">
            <a:avLst/>
          </a:prstGeom>
          <a:noFill/>
          <a:ln/>
        </p:spPr>
        <p:txBody>
          <a:bodyPr wrap="square" lIns="0" tIns="0" rIns="0" bIns="0" rtlCol="0" anchor="t"/>
          <a:lstStyle/>
          <a:p>
            <a:pPr indent="0" marL="0">
              <a:buNone/>
            </a:pPr>
            <a:r>
              <a:rPr lang="en-US" sz="1300" b="1" dirty="0">
                <a:solidFill>
                  <a:schemeClr val="bg1"/>
                </a:solidFill>
              </a:rPr>
              <a:t>3  3D Gaussian Splatting</a:t>
            </a:r>
            <a:endParaRPr lang="en-US" sz="1300" dirty="0"/>
          </a:p>
        </p:txBody>
      </p:sp>
      <p:sp>
        <p:nvSpPr>
          <p:cNvPr id="20" name="Text 18"/>
          <p:cNvSpPr txBox="1"/>
          <p:nvPr/>
        </p:nvSpPr>
        <p:spPr>
          <a:xfrm>
            <a:off x="5212080" y="2487168"/>
            <a:ext cx="1737360" cy="411480"/>
          </a:xfrm>
          <a:prstGeom prst="rect">
            <a:avLst/>
          </a:prstGeom>
          <a:noFill/>
          <a:ln/>
        </p:spPr>
        <p:txBody>
          <a:bodyPr wrap="square" lIns="0" tIns="0" rIns="0" bIns="0" rtlCol="0" anchor="t"/>
          <a:lstStyle/>
          <a:p>
            <a:pPr indent="0" marL="0">
              <a:buNone/>
            </a:pPr>
            <a:r>
              <a:rPr lang="en-US" sz="1100" dirty="0">
                <a:solidFill>
                  <a:schemeClr val="bg2"/>
                </a:solidFill>
              </a:rPr>
              <a:t>gsplat on RTX 5070</a:t>
            </a:r>
            <a:endParaRPr lang="en-US" sz="1100" dirty="0"/>
          </a:p>
        </p:txBody>
      </p:sp>
      <p:sp>
        <p:nvSpPr>
          <p:cNvPr id="21" name="stage-4"/>
          <p:cNvSpPr/>
          <p:nvPr/>
        </p:nvSpPr>
        <p:spPr>
          <a:xfrm>
            <a:off x="7351776" y="2011680"/>
            <a:ext cx="1993392" cy="960120"/>
          </a:xfrm>
          <a:prstGeom prst="roundRect">
            <a:avLst>
              <a:gd name="adj" fmla="val 11429"/>
            </a:avLst>
          </a:prstGeom>
          <a:solidFill>
            <a:schemeClr val="tx2"/>
          </a:solidFill>
          <a:ln w="9525">
            <a:solidFill>
              <a:srgbClr val="2A2D36"/>
            </a:solidFill>
            <a:prstDash val="solid"/>
          </a:ln>
        </p:spPr>
      </p:sp>
      <p:sp>
        <p:nvSpPr>
          <p:cNvPr id="22" name="Text 20"/>
          <p:cNvSpPr txBox="1"/>
          <p:nvPr/>
        </p:nvSpPr>
        <p:spPr>
          <a:xfrm>
            <a:off x="7479792" y="2139696"/>
            <a:ext cx="1737360" cy="347472"/>
          </a:xfrm>
          <a:prstGeom prst="rect">
            <a:avLst/>
          </a:prstGeom>
          <a:noFill/>
          <a:ln/>
        </p:spPr>
        <p:txBody>
          <a:bodyPr wrap="square" lIns="0" tIns="0" rIns="0" bIns="0" rtlCol="0" anchor="t"/>
          <a:lstStyle/>
          <a:p>
            <a:pPr indent="0" marL="0">
              <a:buNone/>
            </a:pPr>
            <a:r>
              <a:rPr lang="en-US" sz="1300" b="1" dirty="0">
                <a:solidFill>
                  <a:schemeClr val="bg1"/>
                </a:solidFill>
              </a:rPr>
              <a:t>4  Floater pruning</a:t>
            </a:r>
            <a:endParaRPr lang="en-US" sz="1300" dirty="0"/>
          </a:p>
        </p:txBody>
      </p:sp>
      <p:sp>
        <p:nvSpPr>
          <p:cNvPr id="23" name="Text 21"/>
          <p:cNvSpPr txBox="1"/>
          <p:nvPr/>
        </p:nvSpPr>
        <p:spPr>
          <a:xfrm>
            <a:off x="7479792" y="2487168"/>
            <a:ext cx="1737360" cy="411480"/>
          </a:xfrm>
          <a:prstGeom prst="rect">
            <a:avLst/>
          </a:prstGeom>
          <a:noFill/>
          <a:ln/>
        </p:spPr>
        <p:txBody>
          <a:bodyPr wrap="square" lIns="0" tIns="0" rIns="0" bIns="0" rtlCol="0" anchor="t"/>
          <a:lstStyle/>
          <a:p>
            <a:pPr indent="0" marL="0">
              <a:buNone/>
            </a:pPr>
            <a:r>
              <a:rPr lang="en-US" sz="1100" dirty="0">
                <a:solidFill>
                  <a:schemeClr val="bg2"/>
                </a:solidFill>
              </a:rPr>
              <a:t>0.5 m around camera path</a:t>
            </a:r>
            <a:endParaRPr lang="en-US" sz="1100" dirty="0"/>
          </a:p>
        </p:txBody>
      </p:sp>
      <p:sp>
        <p:nvSpPr>
          <p:cNvPr id="24" name="stage-5"/>
          <p:cNvSpPr/>
          <p:nvPr/>
        </p:nvSpPr>
        <p:spPr>
          <a:xfrm>
            <a:off x="9619488" y="2011680"/>
            <a:ext cx="1993392" cy="960120"/>
          </a:xfrm>
          <a:prstGeom prst="roundRect">
            <a:avLst>
              <a:gd name="adj" fmla="val 11429"/>
            </a:avLst>
          </a:prstGeom>
          <a:solidFill>
            <a:schemeClr val="tx2"/>
          </a:solidFill>
          <a:ln w="9525">
            <a:solidFill>
              <a:srgbClr val="2A2D36"/>
            </a:solidFill>
            <a:prstDash val="solid"/>
          </a:ln>
        </p:spPr>
      </p:sp>
      <p:sp>
        <p:nvSpPr>
          <p:cNvPr id="25" name="Text 23"/>
          <p:cNvSpPr txBox="1"/>
          <p:nvPr/>
        </p:nvSpPr>
        <p:spPr>
          <a:xfrm>
            <a:off x="9747504" y="2139696"/>
            <a:ext cx="1737360" cy="347472"/>
          </a:xfrm>
          <a:prstGeom prst="rect">
            <a:avLst/>
          </a:prstGeom>
          <a:noFill/>
          <a:ln/>
        </p:spPr>
        <p:txBody>
          <a:bodyPr wrap="square" lIns="0" tIns="0" rIns="0" bIns="0" rtlCol="0" anchor="t"/>
          <a:lstStyle/>
          <a:p>
            <a:pPr indent="0" marL="0">
              <a:buNone/>
            </a:pPr>
            <a:r>
              <a:rPr lang="en-US" sz="1300" b="1" dirty="0">
                <a:solidFill>
                  <a:schemeClr val="bg1"/>
                </a:solidFill>
              </a:rPr>
              <a:t>5  Room shell fit</a:t>
            </a:r>
            <a:endParaRPr lang="en-US" sz="1300" dirty="0"/>
          </a:p>
        </p:txBody>
      </p:sp>
      <p:sp>
        <p:nvSpPr>
          <p:cNvPr id="26" name="Text 24"/>
          <p:cNvSpPr txBox="1"/>
          <p:nvPr/>
        </p:nvSpPr>
        <p:spPr>
          <a:xfrm>
            <a:off x="9747504" y="2487168"/>
            <a:ext cx="1737360" cy="411480"/>
          </a:xfrm>
          <a:prstGeom prst="rect">
            <a:avLst/>
          </a:prstGeom>
          <a:noFill/>
          <a:ln/>
        </p:spPr>
        <p:txBody>
          <a:bodyPr wrap="square" lIns="0" tIns="0" rIns="0" bIns="0" rtlCol="0" anchor="t"/>
          <a:lstStyle/>
          <a:p>
            <a:pPr indent="0" marL="0">
              <a:buNone/>
            </a:pPr>
            <a:r>
              <a:rPr lang="en-US" sz="1100" dirty="0">
                <a:solidFill>
                  <a:schemeClr val="bg2"/>
                </a:solidFill>
              </a:rPr>
              <a:t>floor, ceiling, Manhattan walls</a:t>
            </a:r>
            <a:endParaRPr lang="en-US" sz="1100" dirty="0"/>
          </a:p>
        </p:txBody>
      </p:sp>
      <p:sp>
        <p:nvSpPr>
          <p:cNvPr id="27" name="stage-6"/>
          <p:cNvSpPr/>
          <p:nvPr/>
        </p:nvSpPr>
        <p:spPr>
          <a:xfrm>
            <a:off x="9619488" y="3520440"/>
            <a:ext cx="1993392" cy="960120"/>
          </a:xfrm>
          <a:prstGeom prst="roundRect">
            <a:avLst>
              <a:gd name="adj" fmla="val 11429"/>
            </a:avLst>
          </a:prstGeom>
          <a:solidFill>
            <a:schemeClr val="tx2"/>
          </a:solidFill>
          <a:ln w="9525">
            <a:solidFill>
              <a:srgbClr val="2A2D36"/>
            </a:solidFill>
            <a:prstDash val="solid"/>
          </a:ln>
        </p:spPr>
      </p:sp>
      <p:sp>
        <p:nvSpPr>
          <p:cNvPr id="28" name="Text 26"/>
          <p:cNvSpPr txBox="1"/>
          <p:nvPr/>
        </p:nvSpPr>
        <p:spPr>
          <a:xfrm>
            <a:off x="9747504" y="3648456"/>
            <a:ext cx="1737360" cy="347472"/>
          </a:xfrm>
          <a:prstGeom prst="rect">
            <a:avLst/>
          </a:prstGeom>
          <a:noFill/>
          <a:ln/>
        </p:spPr>
        <p:txBody>
          <a:bodyPr wrap="square" lIns="0" tIns="0" rIns="0" bIns="0" rtlCol="0" anchor="t"/>
          <a:lstStyle/>
          <a:p>
            <a:pPr indent="0" marL="0">
              <a:buNone/>
            </a:pPr>
            <a:r>
              <a:rPr lang="en-US" sz="1300" b="1" dirty="0">
                <a:solidFill>
                  <a:schemeClr val="bg1"/>
                </a:solidFill>
              </a:rPr>
              <a:t>6  Metric scale</a:t>
            </a:r>
            <a:endParaRPr lang="en-US" sz="1300" dirty="0"/>
          </a:p>
        </p:txBody>
      </p:sp>
      <p:sp>
        <p:nvSpPr>
          <p:cNvPr id="29" name="Text 27"/>
          <p:cNvSpPr txBox="1"/>
          <p:nvPr/>
        </p:nvSpPr>
        <p:spPr>
          <a:xfrm>
            <a:off x="9747504" y="3995928"/>
            <a:ext cx="1737360" cy="411480"/>
          </a:xfrm>
          <a:prstGeom prst="rect">
            <a:avLst/>
          </a:prstGeom>
          <a:noFill/>
          <a:ln/>
        </p:spPr>
        <p:txBody>
          <a:bodyPr wrap="square" lIns="0" tIns="0" rIns="0" bIns="0" rtlCol="0" anchor="t"/>
          <a:lstStyle/>
          <a:p>
            <a:pPr indent="0" marL="0">
              <a:buNone/>
            </a:pPr>
            <a:r>
              <a:rPr lang="en-US" sz="1100" dirty="0">
                <a:solidFill>
                  <a:schemeClr val="bg2"/>
                </a:solidFill>
              </a:rPr>
              <a:t>floor plan or camera prior</a:t>
            </a:r>
            <a:endParaRPr lang="en-US" sz="1100" dirty="0"/>
          </a:p>
        </p:txBody>
      </p:sp>
      <p:sp>
        <p:nvSpPr>
          <p:cNvPr id="30" name="stage-7"/>
          <p:cNvSpPr/>
          <p:nvPr/>
        </p:nvSpPr>
        <p:spPr>
          <a:xfrm>
            <a:off x="7351776" y="3520440"/>
            <a:ext cx="1993392" cy="960120"/>
          </a:xfrm>
          <a:prstGeom prst="roundRect">
            <a:avLst>
              <a:gd name="adj" fmla="val 11429"/>
            </a:avLst>
          </a:prstGeom>
          <a:solidFill>
            <a:schemeClr val="accent1">
              <a:alpha val="20000"/>
            </a:schemeClr>
          </a:solidFill>
          <a:ln w="15875">
            <a:solidFill>
              <a:srgbClr val="E0479E"/>
            </a:solidFill>
            <a:prstDash val="solid"/>
          </a:ln>
        </p:spPr>
      </p:sp>
      <p:sp>
        <p:nvSpPr>
          <p:cNvPr id="31" name="Text 29"/>
          <p:cNvSpPr txBox="1"/>
          <p:nvPr/>
        </p:nvSpPr>
        <p:spPr>
          <a:xfrm>
            <a:off x="7479792" y="3648456"/>
            <a:ext cx="1737360" cy="347472"/>
          </a:xfrm>
          <a:prstGeom prst="rect">
            <a:avLst/>
          </a:prstGeom>
          <a:noFill/>
          <a:ln/>
        </p:spPr>
        <p:txBody>
          <a:bodyPr wrap="square" lIns="0" tIns="0" rIns="0" bIns="0" rtlCol="0" anchor="t"/>
          <a:lstStyle/>
          <a:p>
            <a:pPr indent="0" marL="0">
              <a:buNone/>
            </a:pPr>
            <a:r>
              <a:rPr lang="en-US" sz="1300" b="1" dirty="0">
                <a:solidFill>
                  <a:schemeClr val="accent1"/>
                </a:solidFill>
              </a:rPr>
              <a:t>7  Visibility test</a:t>
            </a:r>
            <a:endParaRPr lang="en-US" sz="1300" dirty="0"/>
          </a:p>
        </p:txBody>
      </p:sp>
      <p:sp>
        <p:nvSpPr>
          <p:cNvPr id="32" name="Text 30"/>
          <p:cNvSpPr txBox="1"/>
          <p:nvPr/>
        </p:nvSpPr>
        <p:spPr>
          <a:xfrm>
            <a:off x="7479792" y="3995928"/>
            <a:ext cx="1737360" cy="411480"/>
          </a:xfrm>
          <a:prstGeom prst="rect">
            <a:avLst/>
          </a:prstGeom>
          <a:noFill/>
          <a:ln/>
        </p:spPr>
        <p:txBody>
          <a:bodyPr wrap="square" lIns="0" tIns="0" rIns="0" bIns="0" rtlCol="0" anchor="t"/>
          <a:lstStyle/>
          <a:p>
            <a:pPr indent="0" marL="0">
              <a:buNone/>
            </a:pPr>
            <a:r>
              <a:rPr lang="en-US" sz="1100" dirty="0">
                <a:solidFill>
                  <a:schemeClr val="bg2"/>
                </a:solidFill>
              </a:rPr>
              <a:t>every texel vs 400 views</a:t>
            </a:r>
            <a:endParaRPr lang="en-US" sz="1100" dirty="0"/>
          </a:p>
        </p:txBody>
      </p:sp>
      <p:sp>
        <p:nvSpPr>
          <p:cNvPr id="33" name="stage-8"/>
          <p:cNvSpPr/>
          <p:nvPr/>
        </p:nvSpPr>
        <p:spPr>
          <a:xfrm>
            <a:off x="5084064" y="3520440"/>
            <a:ext cx="1993392" cy="960120"/>
          </a:xfrm>
          <a:prstGeom prst="roundRect">
            <a:avLst>
              <a:gd name="adj" fmla="val 11429"/>
            </a:avLst>
          </a:prstGeom>
          <a:solidFill>
            <a:schemeClr val="accent1">
              <a:alpha val="20000"/>
            </a:schemeClr>
          </a:solidFill>
          <a:ln w="15875">
            <a:solidFill>
              <a:srgbClr val="E0479E"/>
            </a:solidFill>
            <a:prstDash val="solid"/>
          </a:ln>
        </p:spPr>
      </p:sp>
      <p:sp>
        <p:nvSpPr>
          <p:cNvPr id="34" name="Text 32"/>
          <p:cNvSpPr txBox="1"/>
          <p:nvPr/>
        </p:nvSpPr>
        <p:spPr>
          <a:xfrm>
            <a:off x="5212080" y="3648456"/>
            <a:ext cx="1737360" cy="347472"/>
          </a:xfrm>
          <a:prstGeom prst="rect">
            <a:avLst/>
          </a:prstGeom>
          <a:noFill/>
          <a:ln/>
        </p:spPr>
        <p:txBody>
          <a:bodyPr wrap="square" lIns="0" tIns="0" rIns="0" bIns="0" rtlCol="0" anchor="t"/>
          <a:lstStyle/>
          <a:p>
            <a:pPr indent="0" marL="0">
              <a:buNone/>
            </a:pPr>
            <a:r>
              <a:rPr lang="en-US" sz="1300" b="1" dirty="0">
                <a:solidFill>
                  <a:schemeClr val="accent1"/>
                </a:solidFill>
              </a:rPr>
              <a:t>8  LaMa completion</a:t>
            </a:r>
            <a:endParaRPr lang="en-US" sz="1300" dirty="0"/>
          </a:p>
        </p:txBody>
      </p:sp>
      <p:sp>
        <p:nvSpPr>
          <p:cNvPr id="35" name="Text 33"/>
          <p:cNvSpPr txBox="1"/>
          <p:nvPr/>
        </p:nvSpPr>
        <p:spPr>
          <a:xfrm>
            <a:off x="5212080" y="3995928"/>
            <a:ext cx="1737360" cy="411480"/>
          </a:xfrm>
          <a:prstGeom prst="rect">
            <a:avLst/>
          </a:prstGeom>
          <a:noFill/>
          <a:ln/>
        </p:spPr>
        <p:txBody>
          <a:bodyPr wrap="square" lIns="0" tIns="0" rIns="0" bIns="0" rtlCol="0" anchor="t"/>
          <a:lstStyle/>
          <a:p>
            <a:pPr indent="0" marL="0">
              <a:buNone/>
            </a:pPr>
            <a:r>
              <a:rPr lang="en-US" sz="1100" dirty="0">
                <a:solidFill>
                  <a:schemeClr val="bg2"/>
                </a:solidFill>
              </a:rPr>
              <a:t>only never-seen texels</a:t>
            </a:r>
            <a:endParaRPr lang="en-US" sz="1100" dirty="0"/>
          </a:p>
        </p:txBody>
      </p:sp>
      <p:sp>
        <p:nvSpPr>
          <p:cNvPr id="36" name="stage-9"/>
          <p:cNvSpPr/>
          <p:nvPr/>
        </p:nvSpPr>
        <p:spPr>
          <a:xfrm>
            <a:off x="2816352" y="3520440"/>
            <a:ext cx="1993392" cy="960120"/>
          </a:xfrm>
          <a:prstGeom prst="roundRect">
            <a:avLst>
              <a:gd name="adj" fmla="val 11429"/>
            </a:avLst>
          </a:prstGeom>
          <a:solidFill>
            <a:schemeClr val="accent1">
              <a:alpha val="20000"/>
            </a:schemeClr>
          </a:solidFill>
          <a:ln w="15875">
            <a:solidFill>
              <a:srgbClr val="E0479E"/>
            </a:solidFill>
            <a:prstDash val="solid"/>
          </a:ln>
        </p:spPr>
      </p:sp>
      <p:sp>
        <p:nvSpPr>
          <p:cNvPr id="37" name="Text 35"/>
          <p:cNvSpPr txBox="1"/>
          <p:nvPr/>
        </p:nvSpPr>
        <p:spPr>
          <a:xfrm>
            <a:off x="2944368" y="3648456"/>
            <a:ext cx="1737360" cy="347472"/>
          </a:xfrm>
          <a:prstGeom prst="rect">
            <a:avLst/>
          </a:prstGeom>
          <a:noFill/>
          <a:ln/>
        </p:spPr>
        <p:txBody>
          <a:bodyPr wrap="square" lIns="0" tIns="0" rIns="0" bIns="0" rtlCol="0" anchor="t"/>
          <a:lstStyle/>
          <a:p>
            <a:pPr indent="0" marL="0">
              <a:buNone/>
            </a:pPr>
            <a:r>
              <a:rPr lang="en-US" sz="1300" b="1" dirty="0">
                <a:solidFill>
                  <a:schemeClr val="accent1"/>
                </a:solidFill>
              </a:rPr>
              <a:t>9  Honesty tags</a:t>
            </a:r>
            <a:endParaRPr lang="en-US" sz="1300" dirty="0"/>
          </a:p>
        </p:txBody>
      </p:sp>
      <p:sp>
        <p:nvSpPr>
          <p:cNvPr id="38" name="Text 36"/>
          <p:cNvSpPr txBox="1"/>
          <p:nvPr/>
        </p:nvSpPr>
        <p:spPr>
          <a:xfrm>
            <a:off x="2944368" y="3995928"/>
            <a:ext cx="1737360" cy="411480"/>
          </a:xfrm>
          <a:prstGeom prst="rect">
            <a:avLst/>
          </a:prstGeom>
          <a:noFill/>
          <a:ln/>
        </p:spPr>
        <p:txBody>
          <a:bodyPr wrap="square" lIns="0" tIns="0" rIns="0" bIns="0" rtlCol="0" anchor="t"/>
          <a:lstStyle/>
          <a:p>
            <a:pPr indent="0" marL="0">
              <a:buNone/>
            </a:pPr>
            <a:r>
              <a:rPr lang="en-US" sz="1100" dirty="0">
                <a:solidFill>
                  <a:schemeClr val="bg2"/>
                </a:solidFill>
              </a:rPr>
              <a:t>generated flag + confidence</a:t>
            </a:r>
            <a:endParaRPr lang="en-US" sz="1100" dirty="0"/>
          </a:p>
        </p:txBody>
      </p:sp>
      <p:sp>
        <p:nvSpPr>
          <p:cNvPr id="39" name="stage-10"/>
          <p:cNvSpPr/>
          <p:nvPr/>
        </p:nvSpPr>
        <p:spPr>
          <a:xfrm>
            <a:off x="548640" y="3520440"/>
            <a:ext cx="1993392" cy="960120"/>
          </a:xfrm>
          <a:prstGeom prst="roundRect">
            <a:avLst>
              <a:gd name="adj" fmla="val 11429"/>
            </a:avLst>
          </a:prstGeom>
          <a:solidFill>
            <a:schemeClr val="tx2"/>
          </a:solidFill>
          <a:ln w="9525">
            <a:solidFill>
              <a:srgbClr val="2A2D36"/>
            </a:solidFill>
            <a:prstDash val="solid"/>
          </a:ln>
        </p:spPr>
      </p:sp>
      <p:sp>
        <p:nvSpPr>
          <p:cNvPr id="40" name="Text 38"/>
          <p:cNvSpPr txBox="1"/>
          <p:nvPr/>
        </p:nvSpPr>
        <p:spPr>
          <a:xfrm>
            <a:off x="676656" y="3648456"/>
            <a:ext cx="1737360" cy="347472"/>
          </a:xfrm>
          <a:prstGeom prst="rect">
            <a:avLst/>
          </a:prstGeom>
          <a:noFill/>
          <a:ln/>
        </p:spPr>
        <p:txBody>
          <a:bodyPr wrap="square" lIns="0" tIns="0" rIns="0" bIns="0" rtlCol="0" anchor="t"/>
          <a:lstStyle/>
          <a:p>
            <a:pPr indent="0" marL="0">
              <a:buNone/>
            </a:pPr>
            <a:r>
              <a:rPr lang="en-US" sz="1300" b="1" dirty="0">
                <a:solidFill>
                  <a:schemeClr val="bg1"/>
                </a:solidFill>
              </a:rPr>
              <a:t>10  Export + viewer</a:t>
            </a:r>
            <a:endParaRPr lang="en-US" sz="1300" dirty="0"/>
          </a:p>
        </p:txBody>
      </p:sp>
      <p:sp>
        <p:nvSpPr>
          <p:cNvPr id="41" name="Text 39"/>
          <p:cNvSpPr txBox="1"/>
          <p:nvPr/>
        </p:nvSpPr>
        <p:spPr>
          <a:xfrm>
            <a:off x="676656" y="3995928"/>
            <a:ext cx="1737360" cy="411480"/>
          </a:xfrm>
          <a:prstGeom prst="rect">
            <a:avLst/>
          </a:prstGeom>
          <a:noFill/>
          <a:ln/>
        </p:spPr>
        <p:txBody>
          <a:bodyPr wrap="square" lIns="0" tIns="0" rIns="0" bIns="0" rtlCol="0" anchor="t"/>
          <a:lstStyle/>
          <a:p>
            <a:pPr indent="0" marL="0">
              <a:buNone/>
            </a:pPr>
            <a:r>
              <a:rPr lang="en-US" sz="1100" dirty="0">
                <a:solidFill>
                  <a:schemeClr val="bg2"/>
                </a:solidFill>
              </a:rPr>
              <a:t>PLY, .splat, GLB, USD, web</a:t>
            </a:r>
            <a:endParaRPr lang="en-US" sz="1100" dirty="0"/>
          </a:p>
        </p:txBody>
      </p:sp>
      <p:sp>
        <p:nvSpPr>
          <p:cNvPr id="42" name="arrow-0"/>
          <p:cNvSpPr/>
          <p:nvPr/>
        </p:nvSpPr>
        <p:spPr>
          <a:xfrm>
            <a:off x="2569464" y="2491740"/>
            <a:ext cx="219456" cy="0"/>
          </a:xfrm>
          <a:prstGeom prst="line">
            <a:avLst/>
          </a:prstGeom>
          <a:noFill/>
          <a:ln w="19050">
            <a:solidFill>
              <a:srgbClr val="A3A6B1"/>
            </a:solidFill>
            <a:prstDash val="solid"/>
            <a:tailEnd type="triangle"/>
          </a:ln>
        </p:spPr>
      </p:sp>
      <p:sp>
        <p:nvSpPr>
          <p:cNvPr id="43" name="arrow-1"/>
          <p:cNvSpPr/>
          <p:nvPr/>
        </p:nvSpPr>
        <p:spPr>
          <a:xfrm>
            <a:off x="4837176" y="2491740"/>
            <a:ext cx="219456" cy="0"/>
          </a:xfrm>
          <a:prstGeom prst="line">
            <a:avLst/>
          </a:prstGeom>
          <a:noFill/>
          <a:ln w="19050">
            <a:solidFill>
              <a:srgbClr val="A3A6B1"/>
            </a:solidFill>
            <a:prstDash val="solid"/>
            <a:tailEnd type="triangle"/>
          </a:ln>
        </p:spPr>
      </p:sp>
      <p:sp>
        <p:nvSpPr>
          <p:cNvPr id="44" name="arrow-2"/>
          <p:cNvSpPr/>
          <p:nvPr/>
        </p:nvSpPr>
        <p:spPr>
          <a:xfrm>
            <a:off x="7104888" y="2491740"/>
            <a:ext cx="219456" cy="0"/>
          </a:xfrm>
          <a:prstGeom prst="line">
            <a:avLst/>
          </a:prstGeom>
          <a:noFill/>
          <a:ln w="19050">
            <a:solidFill>
              <a:srgbClr val="A3A6B1"/>
            </a:solidFill>
            <a:prstDash val="solid"/>
            <a:tailEnd type="triangle"/>
          </a:ln>
        </p:spPr>
      </p:sp>
      <p:sp>
        <p:nvSpPr>
          <p:cNvPr id="45" name="arrow-3"/>
          <p:cNvSpPr/>
          <p:nvPr/>
        </p:nvSpPr>
        <p:spPr>
          <a:xfrm>
            <a:off x="9372600" y="2491740"/>
            <a:ext cx="219456" cy="0"/>
          </a:xfrm>
          <a:prstGeom prst="line">
            <a:avLst/>
          </a:prstGeom>
          <a:noFill/>
          <a:ln w="19050">
            <a:solidFill>
              <a:srgbClr val="A3A6B1"/>
            </a:solidFill>
            <a:prstDash val="solid"/>
            <a:tailEnd type="triangle"/>
          </a:ln>
        </p:spPr>
      </p:sp>
      <p:sp>
        <p:nvSpPr>
          <p:cNvPr id="46" name="arrow-down"/>
          <p:cNvSpPr/>
          <p:nvPr/>
        </p:nvSpPr>
        <p:spPr>
          <a:xfrm>
            <a:off x="10616184" y="2971800"/>
            <a:ext cx="0" cy="548640"/>
          </a:xfrm>
          <a:prstGeom prst="line">
            <a:avLst/>
          </a:prstGeom>
          <a:noFill/>
          <a:ln w="19050">
            <a:solidFill>
              <a:srgbClr val="A3A6B1"/>
            </a:solidFill>
            <a:prstDash val="solid"/>
            <a:tailEnd type="triangle"/>
          </a:ln>
        </p:spPr>
      </p:sp>
      <p:sp>
        <p:nvSpPr>
          <p:cNvPr id="47" name="arrow-5"/>
          <p:cNvSpPr/>
          <p:nvPr/>
        </p:nvSpPr>
        <p:spPr>
          <a:xfrm flipH="1">
            <a:off x="9372600" y="4000500"/>
            <a:ext cx="219456" cy="0"/>
          </a:xfrm>
          <a:prstGeom prst="line">
            <a:avLst/>
          </a:prstGeom>
          <a:noFill/>
          <a:ln w="19050">
            <a:solidFill>
              <a:srgbClr val="A3A6B1"/>
            </a:solidFill>
            <a:prstDash val="solid"/>
            <a:tailEnd type="triangle"/>
          </a:ln>
        </p:spPr>
      </p:sp>
      <p:sp>
        <p:nvSpPr>
          <p:cNvPr id="48" name="arrow-6"/>
          <p:cNvSpPr/>
          <p:nvPr/>
        </p:nvSpPr>
        <p:spPr>
          <a:xfrm flipH="1">
            <a:off x="7104888" y="4000500"/>
            <a:ext cx="219456" cy="0"/>
          </a:xfrm>
          <a:prstGeom prst="line">
            <a:avLst/>
          </a:prstGeom>
          <a:noFill/>
          <a:ln w="19050">
            <a:solidFill>
              <a:srgbClr val="A3A6B1"/>
            </a:solidFill>
            <a:prstDash val="solid"/>
            <a:tailEnd type="triangle"/>
          </a:ln>
        </p:spPr>
      </p:sp>
      <p:sp>
        <p:nvSpPr>
          <p:cNvPr id="49" name="arrow-7"/>
          <p:cNvSpPr/>
          <p:nvPr/>
        </p:nvSpPr>
        <p:spPr>
          <a:xfrm flipH="1">
            <a:off x="4837176" y="4000500"/>
            <a:ext cx="219456" cy="0"/>
          </a:xfrm>
          <a:prstGeom prst="line">
            <a:avLst/>
          </a:prstGeom>
          <a:noFill/>
          <a:ln w="19050">
            <a:solidFill>
              <a:srgbClr val="A3A6B1"/>
            </a:solidFill>
            <a:prstDash val="solid"/>
            <a:tailEnd type="triangle"/>
          </a:ln>
        </p:spPr>
      </p:sp>
      <p:sp>
        <p:nvSpPr>
          <p:cNvPr id="50" name="arrow-8"/>
          <p:cNvSpPr/>
          <p:nvPr/>
        </p:nvSpPr>
        <p:spPr>
          <a:xfrm flipH="1">
            <a:off x="2569464" y="4000500"/>
            <a:ext cx="219456" cy="0"/>
          </a:xfrm>
          <a:prstGeom prst="line">
            <a:avLst/>
          </a:prstGeom>
          <a:noFill/>
          <a:ln w="19050">
            <a:solidFill>
              <a:srgbClr val="A3A6B1"/>
            </a:solidFill>
            <a:prstDash val="solid"/>
            <a:tailEnd type="triangle"/>
          </a:ln>
        </p:spPr>
      </p:sp>
      <p:sp>
        <p:nvSpPr>
          <p:cNvPr id="51" name="models-card"/>
          <p:cNvSpPr/>
          <p:nvPr/>
        </p:nvSpPr>
        <p:spPr>
          <a:xfrm>
            <a:off x="548640" y="4800600"/>
            <a:ext cx="6766560" cy="1417320"/>
          </a:xfrm>
          <a:prstGeom prst="roundRect">
            <a:avLst>
              <a:gd name="adj" fmla="val 7742"/>
            </a:avLst>
          </a:prstGeom>
          <a:solidFill>
            <a:schemeClr val="tx2"/>
          </a:solidFill>
          <a:ln w="9525">
            <a:solidFill>
              <a:srgbClr val="2A2D36"/>
            </a:solidFill>
            <a:prstDash val="solid"/>
          </a:ln>
        </p:spPr>
      </p:sp>
      <p:sp>
        <p:nvSpPr>
          <p:cNvPr id="52" name="Text 50"/>
          <p:cNvSpPr txBox="1"/>
          <p:nvPr/>
        </p:nvSpPr>
        <p:spPr>
          <a:xfrm>
            <a:off x="777240" y="4919472"/>
            <a:ext cx="6400800" cy="320040"/>
          </a:xfrm>
          <a:prstGeom prst="rect">
            <a:avLst/>
          </a:prstGeom>
          <a:noFill/>
          <a:ln/>
        </p:spPr>
        <p:txBody>
          <a:bodyPr wrap="square" lIns="0" tIns="0" rIns="0" bIns="0" rtlCol="0" anchor="t"/>
          <a:lstStyle/>
          <a:p>
            <a:pPr indent="0" marL="0">
              <a:buNone/>
            </a:pPr>
            <a:r>
              <a:rPr lang="en-US" sz="1400" b="1" dirty="0">
                <a:solidFill>
                  <a:schemeClr val="bg1"/>
                </a:solidFill>
              </a:rPr>
              <a:t>Models and tools (all local, all open source)</a:t>
            </a:r>
            <a:endParaRPr lang="en-US" sz="1400" dirty="0"/>
          </a:p>
        </p:txBody>
      </p:sp>
      <p:sp>
        <p:nvSpPr>
          <p:cNvPr id="53" name="Text 51"/>
          <p:cNvSpPr txBox="1"/>
          <p:nvPr/>
        </p:nvSpPr>
        <p:spPr>
          <a:xfrm>
            <a:off x="777240" y="5285232"/>
            <a:ext cx="6355080" cy="868680"/>
          </a:xfrm>
          <a:prstGeom prst="rect">
            <a:avLst/>
          </a:prstGeom>
          <a:noFill/>
          <a:ln/>
        </p:spPr>
        <p:txBody>
          <a:bodyPr wrap="square" lIns="0" tIns="0" rIns="0" bIns="0" rtlCol="0" anchor="t"/>
          <a:lstStyle/>
          <a:p>
            <a:pPr indent="0" marL="0">
              <a:buNone/>
            </a:pPr>
            <a:r>
              <a:rPr lang="en-US" sz="1200" dirty="0">
                <a:solidFill>
                  <a:schemeClr val="bg2"/>
                </a:solidFill>
              </a:rPr>
              <a:t>COLMAP 3.12  |  gsplat 1.6 (3DGS, MCMC)  |  LaMa inpainting  |  Depth Anything V2 Metric Indoor (scale check)  |  LPIPS-VGG (evaluation only)  |  three.js + Spark web viewer</a:t>
            </a:r>
            <a:endParaRPr lang="en-US" sz="1200" dirty="0"/>
          </a:p>
        </p:txBody>
      </p:sp>
      <p:sp>
        <p:nvSpPr>
          <p:cNvPr id="54" name="llm-card"/>
          <p:cNvSpPr/>
          <p:nvPr/>
        </p:nvSpPr>
        <p:spPr>
          <a:xfrm>
            <a:off x="7543800" y="4800600"/>
            <a:ext cx="4069080" cy="1417320"/>
          </a:xfrm>
          <a:prstGeom prst="roundRect">
            <a:avLst>
              <a:gd name="adj" fmla="val 7742"/>
            </a:avLst>
          </a:prstGeom>
          <a:solidFill>
            <a:schemeClr val="accent5"/>
          </a:solidFill>
          <a:ln w="9525">
            <a:solidFill>
              <a:srgbClr val="2A2D36"/>
            </a:solidFill>
            <a:prstDash val="solid"/>
          </a:ln>
        </p:spPr>
      </p:sp>
      <p:sp>
        <p:nvSpPr>
          <p:cNvPr id="55" name="Text 53"/>
          <p:cNvSpPr txBox="1"/>
          <p:nvPr/>
        </p:nvSpPr>
        <p:spPr>
          <a:xfrm>
            <a:off x="7772400" y="4892040"/>
            <a:ext cx="18288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 LLMs</a:t>
            </a:r>
            <a:endParaRPr lang="en-US" sz="3000" dirty="0"/>
          </a:p>
        </p:txBody>
      </p:sp>
      <p:sp>
        <p:nvSpPr>
          <p:cNvPr id="56" name="Text 54"/>
          <p:cNvSpPr txBox="1"/>
          <p:nvPr/>
        </p:nvSpPr>
        <p:spPr>
          <a:xfrm>
            <a:off x="7772400" y="5440680"/>
            <a:ext cx="3657600" cy="731520"/>
          </a:xfrm>
          <a:prstGeom prst="rect">
            <a:avLst/>
          </a:prstGeom>
          <a:noFill/>
          <a:ln/>
        </p:spPr>
        <p:txBody>
          <a:bodyPr wrap="square" lIns="0" tIns="0" rIns="0" bIns="0" rtlCol="0" anchor="t"/>
          <a:lstStyle/>
          <a:p>
            <a:pPr indent="0" marL="0">
              <a:buNone/>
            </a:pPr>
            <a:r>
              <a:rPr lang="en-US" sz="1200" dirty="0">
                <a:solidFill>
                  <a:schemeClr val="bg1"/>
                </a:solidFill>
              </a:rPr>
              <a:t>No language model anywhere in the pipeline. Runs offline on one laptop GPU; Rs 0 API cost.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All the data we used</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83080"/>
                <a:gridCol w="4983480"/>
              </a:tblGrid>
              <a:tr h="47548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rgbClr val="2A2D36"/>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Details</a:t>
                      </a:r>
                      <a:endParaRPr lang="en-US" sz="13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rgbClr val="2A2D36"/>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Walkthrough video</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Karunya classroom, 57 s, 1920 x 1080, 30 fps; first 51 s used (inside the room)</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Training frames</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400 sharpest frames + 78 extra from the soft 38-51 s stretch</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Held-out photos</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5 phone stills from new positions, never used for training</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Ground truth</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Tape: 9.23 x 8.88 m floor, 3.5 m ceiling, door 1.0 x 2.05 m</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Floor plan</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2D plan with walls, door and labelled dimensions</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Development scene</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Deep Blending "Playroom" (public) to test every stage first</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Pretrained models</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LaMa, Depth Anything V2 Metric Indoor S, VGG16 (LPIPS only)</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Hardware</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latin typeface="Calibri" pitchFamily="34" charset="0"/>
                          <a:ea typeface="Calibri" pitchFamily="34" charset="-122"/>
                          <a:cs typeface="Calibri" pitchFamily="34" charset="-120"/>
                        </a:rPr>
                        <a:t>Laptop RTX 5070 (8 GB), CUDA 13, WSL Ubuntu</a:t>
                      </a:r>
                      <a:endParaRPr lang="en-US" sz="1200" dirty="0">
                        <a:latin typeface="Calibri" charset="0"/>
                        <a:ea typeface="Calibri" charset="0"/>
                        <a:cs typeface="Calibri" charset="0"/>
                      </a:endParaRPr>
                    </a:p>
                  </a:txBody>
                  <a:tcPr marL="91440" marR="91440" marT="45720" marB="45720" anchor="ctr">
                    <a:lnL w="6350" cap="flat" cmpd="sng" algn="ctr">
                      <a:solidFill>
                        <a:srgbClr val="2A2D36"/>
                      </a:solidFill>
                      <a:prstDash val="solid"/>
                      <a:round/>
                      <a:headEnd type="none" w="med" len="med"/>
                      <a:tailEnd type="none" w="med" len="med"/>
                    </a:lnL>
                    <a:lnR w="6350" cap="flat" cmpd="sng" algn="ctr">
                      <a:solidFill>
                        <a:srgbClr val="2A2D36"/>
                      </a:solidFill>
                      <a:prstDash val="solid"/>
                      <a:round/>
                      <a:headEnd type="none" w="med" len="med"/>
                      <a:tailEnd type="none" w="med" len="med"/>
                    </a:lnR>
                    <a:lnT w="6350" cap="flat" cmpd="sng" algn="ctr">
                      <a:solidFill>
                        <a:srgbClr val="2A2D36"/>
                      </a:solidFill>
                      <a:prstDash val="solid"/>
                      <a:round/>
                      <a:headEnd type="none" w="med" len="med"/>
                      <a:tailEnd type="none" w="med" len="med"/>
                    </a:lnT>
                    <a:lnB w="6350" cap="flat" cmpd="sng" algn="ctr">
                      <a:solidFill>
                        <a:srgbClr val="2A2D36"/>
                      </a:solidFill>
                      <a:prstDash val="solid"/>
                      <a:round/>
                      <a:headEnd type="none" w="med" len="med"/>
                      <a:tailEnd type="none" w="med" len="med"/>
                    </a:lnB>
                    <a:solidFill>
                      <a:schemeClr val="tx2"/>
                    </a:solidFill>
                  </a:tcPr>
                </a:tc>
              </a:tr>
            </a:tbl>
          </a:graphicData>
        </a:graphic>
      </p:graphicFrame>
      <p:pic>
        <p:nvPicPr>
          <p:cNvPr id="4" name="input-photo" descr="C:\Users\KIRAN\.claude\calde\hacknex-3d\deck\assets\input_frame.jpg">    </p:cNvPr>
          <p:cNvPicPr>
            <a:picLocks noChangeAspect="1"/>
          </p:cNvPicPr>
          <p:nvPr/>
        </p:nvPicPr>
        <p:blipFill>
          <a:blip r:embed="rId1"/>
          <a:stretch>
            <a:fillRect/>
          </a:stretch>
        </p:blipFill>
        <p:spPr>
          <a:xfrm>
            <a:off x="7635240" y="1325880"/>
            <a:ext cx="3977640" cy="2240280"/>
          </a:xfrm>
          <a:prstGeom prst="rect">
            <a:avLst/>
          </a:prstGeom>
        </p:spPr>
      </p:pic>
      <p:sp>
        <p:nvSpPr>
          <p:cNvPr id="5" name="Text 1"/>
          <p:cNvSpPr txBox="1"/>
          <p:nvPr/>
        </p:nvSpPr>
        <p:spPr>
          <a:xfrm>
            <a:off x="7635240" y="3611880"/>
            <a:ext cx="3977640" cy="274320"/>
          </a:xfrm>
          <a:prstGeom prst="rect">
            <a:avLst/>
          </a:prstGeom>
          <a:noFill/>
          <a:ln/>
        </p:spPr>
        <p:txBody>
          <a:bodyPr wrap="square" lIns="0" tIns="0" rIns="0" bIns="0" rtlCol="0" anchor="t"/>
          <a:lstStyle/>
          <a:p>
            <a:pPr indent="0" marL="0">
              <a:buNone/>
            </a:pPr>
            <a:r>
              <a:rPr lang="en-US" sz="1100" dirty="0">
                <a:solidFill>
                  <a:schemeClr val="bg2"/>
                </a:solidFill>
              </a:rPr>
              <a:t>Input: one frame of the phone walkthrough</a:t>
            </a:r>
            <a:endParaRPr lang="en-US" sz="1100" dirty="0"/>
          </a:p>
        </p:txBody>
      </p:sp>
      <p:pic>
        <p:nvPicPr>
          <p:cNvPr id="6" name="floorplan" descr="C:\Users\KIRAN\.claude\calde\hacknex-3d\deck\assets\floorplan_parsed.png">    </p:cNvPr>
          <p:cNvPicPr>
            <a:picLocks noChangeAspect="1"/>
          </p:cNvPicPr>
          <p:nvPr/>
        </p:nvPicPr>
        <p:blipFill>
          <a:blip r:embed="rId2"/>
          <a:stretch>
            <a:fillRect/>
          </a:stretch>
        </p:blipFill>
        <p:spPr>
          <a:xfrm>
            <a:off x="8503920" y="3977640"/>
            <a:ext cx="2240280" cy="2057400"/>
          </a:xfrm>
          <a:prstGeom prst="rect">
            <a:avLst/>
          </a:prstGeom>
        </p:spPr>
      </p:pic>
      <p:sp>
        <p:nvSpPr>
          <p:cNvPr id="7" name="Text 2"/>
          <p:cNvSpPr txBox="1"/>
          <p:nvPr/>
        </p:nvSpPr>
        <p:spPr>
          <a:xfrm>
            <a:off x="7635240" y="6080760"/>
            <a:ext cx="3977640" cy="274320"/>
          </a:xfrm>
          <a:prstGeom prst="rect">
            <a:avLst/>
          </a:prstGeom>
          <a:noFill/>
          <a:ln/>
        </p:spPr>
        <p:txBody>
          <a:bodyPr wrap="square" lIns="0" tIns="0" rIns="0" bIns="0" rtlCol="0" anchor="t"/>
          <a:lstStyle/>
          <a:p>
            <a:pPr algn="ctr" indent="0" marL="0">
              <a:buNone/>
            </a:pPr>
            <a:r>
              <a:rPr lang="en-US" sz="1100" dirty="0">
                <a:solidFill>
                  <a:schemeClr val="bg2"/>
                </a:solidFill>
              </a:rPr>
              <a:t>Floor plan, parsed: walls, interior, door</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RoomFill beats the baseline on every metric</a:t>
            </a:r>
            <a:endParaRPr lang="en-US" sz="3400" dirty="0"/>
          </a:p>
        </p:txBody>
      </p:sp>
      <p:sp>
        <p:nvSpPr>
          <p:cNvPr id="3" name="chart1-card"/>
          <p:cNvSpPr/>
          <p:nvPr/>
        </p:nvSpPr>
        <p:spPr>
          <a:xfrm>
            <a:off x="548640" y="1325880"/>
            <a:ext cx="3566160" cy="3291840"/>
          </a:xfrm>
          <a:prstGeom prst="roundRect">
            <a:avLst>
              <a:gd name="adj" fmla="val 3333"/>
            </a:avLst>
          </a:prstGeom>
          <a:solidFill>
            <a:schemeClr val="tx2"/>
          </a:solidFill>
          <a:ln w="9525">
            <a:solidFill>
              <a:srgbClr val="2A2D36"/>
            </a:solidFill>
            <a:prstDash val="solid"/>
          </a:ln>
        </p:spPr>
      </p:sp>
      <p:graphicFrame>
        <p:nvGraphicFramePr>
          <p:cNvPr id="4" name="Chart 0" descr=""/>
          <p:cNvGraphicFramePr/>
          <p:nvPr/>
        </p:nvGraphicFramePr>
        <p:xfrm>
          <a:off x="685800" y="1417320"/>
          <a:ext cx="3291840" cy="3108960"/>
        </p:xfrm>
        <a:graphic xmlns:a="http://schemas.openxmlformats.org/drawingml/2006/main">
          <a:graphicData uri="http://schemas.openxmlformats.org/drawingml/2006/chart">
            <c:chart xmlns:c="http://schemas.openxmlformats.org/drawingml/2006/chart" r:id="rId1"/>
          </a:graphicData>
        </a:graphic>
      </p:graphicFrame>
      <p:sp>
        <p:nvSpPr>
          <p:cNvPr id="5" name="chart2-card"/>
          <p:cNvSpPr/>
          <p:nvPr/>
        </p:nvSpPr>
        <p:spPr>
          <a:xfrm>
            <a:off x="4343400" y="1325880"/>
            <a:ext cx="3566160" cy="3291840"/>
          </a:xfrm>
          <a:prstGeom prst="roundRect">
            <a:avLst>
              <a:gd name="adj" fmla="val 3333"/>
            </a:avLst>
          </a:prstGeom>
          <a:solidFill>
            <a:schemeClr val="tx2"/>
          </a:solidFill>
          <a:ln w="9525">
            <a:solidFill>
              <a:srgbClr val="2A2D36"/>
            </a:solidFill>
            <a:prstDash val="solid"/>
          </a:ln>
        </p:spPr>
      </p:sp>
      <p:graphicFrame>
        <p:nvGraphicFramePr>
          <p:cNvPr id="6" name="Chart 1" descr=""/>
          <p:cNvGraphicFramePr/>
          <p:nvPr/>
        </p:nvGraphicFramePr>
        <p:xfrm>
          <a:off x="4480560" y="1417320"/>
          <a:ext cx="3291840" cy="3108960"/>
        </p:xfrm>
        <a:graphic xmlns:a="http://schemas.openxmlformats.org/drawingml/2006/main">
          <a:graphicData uri="http://schemas.openxmlformats.org/drawingml/2006/chart">
            <c:chart xmlns:c="http://schemas.openxmlformats.org/drawingml/2006/chart" r:id="rId2"/>
          </a:graphicData>
        </a:graphic>
      </p:graphicFrame>
      <p:sp>
        <p:nvSpPr>
          <p:cNvPr id="7" name="quality-card"/>
          <p:cNvSpPr/>
          <p:nvPr/>
        </p:nvSpPr>
        <p:spPr>
          <a:xfrm>
            <a:off x="8138160" y="1325880"/>
            <a:ext cx="3474720" cy="3291840"/>
          </a:xfrm>
          <a:prstGeom prst="roundRect">
            <a:avLst>
              <a:gd name="adj" fmla="val 3333"/>
            </a:avLst>
          </a:prstGeom>
          <a:solidFill>
            <a:schemeClr val="tx2"/>
          </a:solidFill>
          <a:ln w="9525">
            <a:solidFill>
              <a:srgbClr val="2A2D36"/>
            </a:solidFill>
            <a:prstDash val="solid"/>
          </a:ln>
        </p:spPr>
      </p:sp>
      <p:sp>
        <p:nvSpPr>
          <p:cNvPr id="8" name="Text 4"/>
          <p:cNvSpPr txBox="1"/>
          <p:nvPr/>
        </p:nvSpPr>
        <p:spPr>
          <a:xfrm>
            <a:off x="8366760" y="1463040"/>
            <a:ext cx="3108960" cy="320040"/>
          </a:xfrm>
          <a:prstGeom prst="rect">
            <a:avLst/>
          </a:prstGeom>
          <a:noFill/>
          <a:ln/>
        </p:spPr>
        <p:txBody>
          <a:bodyPr wrap="square" lIns="0" tIns="0" rIns="0" bIns="0" rtlCol="0" anchor="t"/>
          <a:lstStyle/>
          <a:p>
            <a:pPr indent="0" marL="0">
              <a:buNone/>
            </a:pPr>
            <a:r>
              <a:rPr lang="en-US" sz="1400" b="1" dirty="0">
                <a:solidFill>
                  <a:schemeClr val="bg1"/>
                </a:solidFill>
                <a:latin typeface="Cambria" pitchFamily="34" charset="0"/>
                <a:ea typeface="Cambria" pitchFamily="34" charset="-122"/>
                <a:cs typeface="Cambria" pitchFamily="34" charset="-120"/>
              </a:rPr>
              <a:t>Held-out photos (full resolution)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366760" y="1874520"/>
          <a:ext cx="3063240" cy="914400"/>
        </p:xfrm>
        <a:graphic>
          <a:graphicData uri="http://schemas.openxmlformats.org/drawingml/2006/table">
            <a:tbl>
              <a:tblPr/>
              <a:tblGrid>
                <a:gridCol w="1234440"/>
                <a:gridCol w="914400"/>
                <a:gridCol w="914400"/>
              </a:tblGrid>
              <a:tr h="384048">
                <a:tc>
                  <a:txBody>
                    <a:bodyPr/>
                    <a:lstStyle/>
                    <a:p>
                      <a:pPr algn="l" indent="0" marL="0">
                        <a:buNone/>
                      </a:pP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A3A6B1"/>
                          </a:solidFill>
                        </a:rPr>
                        <a:t>Baseline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A3A6B1"/>
                          </a:solidFill>
                        </a:rPr>
                        <a:t>RoomFill</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r>
              <a:tr h="384048">
                <a:tc>
                  <a:txBody>
                    <a:bodyPr/>
                    <a:lstStyle/>
                    <a:p>
                      <a:pPr algn="l" indent="0" marL="0">
                        <a:buNone/>
                      </a:pPr>
                      <a:r>
                        <a:rPr lang="en-US" sz="1300" dirty="0">
                          <a:solidFill>
                            <a:srgbClr val="EDEDF0"/>
                          </a:solidFill>
                        </a:rPr>
                        <a:t>PSNR (raw)</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dirty="0">
                          <a:solidFill>
                            <a:srgbClr val="EDEDF0"/>
                          </a:solidFill>
                        </a:rPr>
                        <a:t>10.68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E0479E"/>
                          </a:solidFill>
                        </a:rPr>
                        <a:t>11.26</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r>
              <a:tr h="384048">
                <a:tc>
                  <a:txBody>
                    <a:bodyPr/>
                    <a:lstStyle/>
                    <a:p>
                      <a:pPr algn="l" indent="0" marL="0">
                        <a:buNone/>
                      </a:pPr>
                      <a:r>
                        <a:rPr lang="en-US" sz="1300" dirty="0">
                          <a:solidFill>
                            <a:srgbClr val="EDEDF0"/>
                          </a:solidFill>
                        </a:rPr>
                        <a:t>PSNR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dirty="0">
                          <a:solidFill>
                            <a:srgbClr val="EDEDF0"/>
                          </a:solidFill>
                        </a:rPr>
                        <a:t>15.79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E0479E"/>
                          </a:solidFill>
                        </a:rPr>
                        <a:t>16.15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r>
              <a:tr h="384048">
                <a:tc>
                  <a:txBody>
                    <a:bodyPr/>
                    <a:lstStyle/>
                    <a:p>
                      <a:pPr algn="l" indent="0" marL="0">
                        <a:buNone/>
                      </a:pPr>
                      <a:r>
                        <a:rPr lang="en-US" sz="1300" dirty="0">
                          <a:solidFill>
                            <a:srgbClr val="EDEDF0"/>
                          </a:solidFill>
                        </a:rPr>
                        <a:t>SSIM</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dirty="0">
                          <a:solidFill>
                            <a:srgbClr val="EDEDF0"/>
                          </a:solidFill>
                        </a:rPr>
                        <a:t>0.720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E0479E"/>
                          </a:solidFill>
                        </a:rPr>
                        <a:t>0.724</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r>
              <a:tr h="384048">
                <a:tc>
                  <a:txBody>
                    <a:bodyPr/>
                    <a:lstStyle/>
                    <a:p>
                      <a:pPr algn="l" indent="0" marL="0">
                        <a:buNone/>
                      </a:pPr>
                      <a:r>
                        <a:rPr lang="en-US" sz="1300" dirty="0">
                          <a:solidFill>
                            <a:srgbClr val="EDEDF0"/>
                          </a:solidFill>
                        </a:rPr>
                        <a:t>LPIPS (lower)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dirty="0">
                          <a:solidFill>
                            <a:srgbClr val="EDEDF0"/>
                          </a:solidFill>
                        </a:rPr>
                        <a:t>0.605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c>
                  <a:txBody>
                    <a:bodyPr/>
                    <a:lstStyle/>
                    <a:p>
                      <a:pPr algn="r" indent="0" marL="0">
                        <a:buNone/>
                      </a:pPr>
                      <a:r>
                        <a:rPr lang="en-US" sz="1300" b="1" dirty="0">
                          <a:solidFill>
                            <a:srgbClr val="E0479E"/>
                          </a:solidFill>
                        </a:rPr>
                        <a:t>0.601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1A1C22"/>
                    </a:solidFill>
                  </a:tcPr>
                </a:tc>
              </a:tr>
            </a:tbl>
          </a:graphicData>
        </a:graphic>
      </p:graphicFrame>
      <p:sp>
        <p:nvSpPr>
          <p:cNvPr id="10" name="Text 5"/>
          <p:cNvSpPr txBox="1"/>
          <p:nvPr/>
        </p:nvSpPr>
        <p:spPr>
          <a:xfrm>
            <a:off x="8366760" y="3840480"/>
            <a:ext cx="3108960" cy="731520"/>
          </a:xfrm>
          <a:prstGeom prst="rect">
            <a:avLst/>
          </a:prstGeom>
          <a:noFill/>
          <a:ln/>
        </p:spPr>
        <p:txBody>
          <a:bodyPr wrap="square" lIns="0" tIns="0" rIns="0" bIns="0" rtlCol="0" anchor="t"/>
          <a:lstStyle/>
          <a:p>
            <a:pPr indent="0" marL="0">
              <a:buNone/>
            </a:pPr>
            <a:r>
              <a:rPr lang="en-US" sz="1000" dirty="0">
                <a:solidFill>
                  <a:schemeClr val="bg2"/>
                </a:solidFill>
              </a:rPr>
              <a:t>PSNR / SSIM / LPIPS colour-aligned: one colour map per photo, because phone photo mode and video mode differ in exposure. Raw shown too.</a:t>
            </a:r>
            <a:endParaRPr lang="en-US" sz="1000" dirty="0"/>
          </a:p>
        </p:txBody>
      </p:sp>
      <p:sp>
        <p:nvSpPr>
          <p:cNvPr id="11" name="res-stat-0"/>
          <p:cNvSpPr/>
          <p:nvPr/>
        </p:nvSpPr>
        <p:spPr>
          <a:xfrm>
            <a:off x="548640" y="4846320"/>
            <a:ext cx="2651760" cy="1371600"/>
          </a:xfrm>
          <a:prstGeom prst="roundRect">
            <a:avLst>
              <a:gd name="adj" fmla="val 8000"/>
            </a:avLst>
          </a:prstGeom>
          <a:solidFill>
            <a:schemeClr val="tx2"/>
          </a:solidFill>
          <a:ln w="9525">
            <a:solidFill>
              <a:srgbClr val="2A2D36"/>
            </a:solidFill>
            <a:prstDash val="solid"/>
          </a:ln>
        </p:spPr>
      </p:sp>
      <p:sp>
        <p:nvSpPr>
          <p:cNvPr id="12" name="Text 7"/>
          <p:cNvSpPr txBox="1"/>
          <p:nvPr/>
        </p:nvSpPr>
        <p:spPr>
          <a:xfrm>
            <a:off x="731520" y="4937760"/>
            <a:ext cx="22860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3.7-4.0%</a:t>
            </a:r>
            <a:endParaRPr lang="en-US" sz="2800" dirty="0"/>
          </a:p>
        </p:txBody>
      </p:sp>
      <p:sp>
        <p:nvSpPr>
          <p:cNvPr id="13" name="Text 8"/>
          <p:cNvSpPr txBox="1"/>
          <p:nvPr/>
        </p:nvSpPr>
        <p:spPr>
          <a:xfrm>
            <a:off x="731520" y="5532120"/>
            <a:ext cx="2331720" cy="548640"/>
          </a:xfrm>
          <a:prstGeom prst="rect">
            <a:avLst/>
          </a:prstGeom>
          <a:noFill/>
          <a:ln/>
        </p:spPr>
        <p:txBody>
          <a:bodyPr wrap="square" lIns="0" tIns="0" rIns="0" bIns="0" rtlCol="0" anchor="t"/>
          <a:lstStyle/>
          <a:p>
            <a:pPr indent="0" marL="0">
              <a:buNone/>
            </a:pPr>
            <a:r>
              <a:rPr lang="en-US" sz="1200" dirty="0">
                <a:solidFill>
                  <a:schemeClr val="bg2"/>
                </a:solidFill>
              </a:rPr>
              <a:t>length / width error vs tape</a:t>
            </a:r>
            <a:endParaRPr lang="en-US" sz="1200" dirty="0"/>
          </a:p>
        </p:txBody>
      </p:sp>
      <p:sp>
        <p:nvSpPr>
          <p:cNvPr id="14" name="res-stat-1"/>
          <p:cNvSpPr/>
          <p:nvPr/>
        </p:nvSpPr>
        <p:spPr>
          <a:xfrm>
            <a:off x="3337560" y="4846320"/>
            <a:ext cx="2651760" cy="1371600"/>
          </a:xfrm>
          <a:prstGeom prst="roundRect">
            <a:avLst>
              <a:gd name="adj" fmla="val 8000"/>
            </a:avLst>
          </a:prstGeom>
          <a:solidFill>
            <a:schemeClr val="tx2"/>
          </a:solidFill>
          <a:ln w="9525">
            <a:solidFill>
              <a:srgbClr val="2A2D36"/>
            </a:solidFill>
            <a:prstDash val="solid"/>
          </a:ln>
        </p:spPr>
      </p:sp>
      <p:sp>
        <p:nvSpPr>
          <p:cNvPr id="15" name="Text 10"/>
          <p:cNvSpPr txBox="1"/>
          <p:nvPr/>
        </p:nvSpPr>
        <p:spPr>
          <a:xfrm>
            <a:off x="3520440" y="4937760"/>
            <a:ext cx="22860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6.4%</a:t>
            </a:r>
            <a:endParaRPr lang="en-US" sz="2800" dirty="0"/>
          </a:p>
        </p:txBody>
      </p:sp>
      <p:sp>
        <p:nvSpPr>
          <p:cNvPr id="16" name="Text 11"/>
          <p:cNvSpPr txBox="1"/>
          <p:nvPr/>
        </p:nvSpPr>
        <p:spPr>
          <a:xfrm>
            <a:off x="3520440" y="5532120"/>
            <a:ext cx="2331720" cy="548640"/>
          </a:xfrm>
          <a:prstGeom prst="rect">
            <a:avLst/>
          </a:prstGeom>
          <a:noFill/>
          <a:ln/>
        </p:spPr>
        <p:txBody>
          <a:bodyPr wrap="square" lIns="0" tIns="0" rIns="0" bIns="0" rtlCol="0" anchor="t"/>
          <a:lstStyle/>
          <a:p>
            <a:pPr indent="0" marL="0">
              <a:buNone/>
            </a:pPr>
            <a:r>
              <a:rPr lang="en-US" sz="1200" dirty="0">
                <a:solidFill>
                  <a:schemeClr val="bg2"/>
                </a:solidFill>
              </a:rPr>
              <a:t>ceiling height error (independent check)</a:t>
            </a:r>
            <a:endParaRPr lang="en-US" sz="1200" dirty="0"/>
          </a:p>
        </p:txBody>
      </p:sp>
      <p:sp>
        <p:nvSpPr>
          <p:cNvPr id="17" name="res-stat-2"/>
          <p:cNvSpPr/>
          <p:nvPr/>
        </p:nvSpPr>
        <p:spPr>
          <a:xfrm>
            <a:off x="6126480" y="4846320"/>
            <a:ext cx="2651760" cy="1371600"/>
          </a:xfrm>
          <a:prstGeom prst="roundRect">
            <a:avLst>
              <a:gd name="adj" fmla="val 8000"/>
            </a:avLst>
          </a:prstGeom>
          <a:solidFill>
            <a:schemeClr val="tx2"/>
          </a:solidFill>
          <a:ln w="9525">
            <a:solidFill>
              <a:srgbClr val="2A2D36"/>
            </a:solidFill>
            <a:prstDash val="solid"/>
          </a:ln>
        </p:spPr>
      </p:sp>
      <p:sp>
        <p:nvSpPr>
          <p:cNvPr id="18" name="Text 13"/>
          <p:cNvSpPr txBox="1"/>
          <p:nvPr/>
        </p:nvSpPr>
        <p:spPr>
          <a:xfrm>
            <a:off x="6309360" y="4937760"/>
            <a:ext cx="22860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-30%</a:t>
            </a:r>
            <a:endParaRPr lang="en-US" sz="2800" dirty="0"/>
          </a:p>
        </p:txBody>
      </p:sp>
      <p:sp>
        <p:nvSpPr>
          <p:cNvPr id="19" name="Text 14"/>
          <p:cNvSpPr txBox="1"/>
          <p:nvPr/>
        </p:nvSpPr>
        <p:spPr>
          <a:xfrm>
            <a:off x="6309360" y="5532120"/>
            <a:ext cx="2331720" cy="548640"/>
          </a:xfrm>
          <a:prstGeom prst="rect">
            <a:avLst/>
          </a:prstGeom>
          <a:noFill/>
          <a:ln/>
        </p:spPr>
        <p:txBody>
          <a:bodyPr wrap="square" lIns="0" tIns="0" rIns="0" bIns="0" rtlCol="0" anchor="t"/>
          <a:lstStyle/>
          <a:p>
            <a:pPr indent="0" marL="0">
              <a:buNone/>
            </a:pPr>
            <a:r>
              <a:rPr lang="en-US" sz="1200" dirty="0">
                <a:solidFill>
                  <a:schemeClr val="bg2"/>
                </a:solidFill>
              </a:rPr>
              <a:t>Chamfer distance vs baseline</a:t>
            </a:r>
            <a:endParaRPr lang="en-US" sz="1200" dirty="0"/>
          </a:p>
        </p:txBody>
      </p:sp>
      <p:sp>
        <p:nvSpPr>
          <p:cNvPr id="20" name="res-stat-3"/>
          <p:cNvSpPr/>
          <p:nvPr/>
        </p:nvSpPr>
        <p:spPr>
          <a:xfrm>
            <a:off x="8915400" y="4846320"/>
            <a:ext cx="2651760" cy="1371600"/>
          </a:xfrm>
          <a:prstGeom prst="roundRect">
            <a:avLst>
              <a:gd name="adj" fmla="val 8000"/>
            </a:avLst>
          </a:prstGeom>
          <a:solidFill>
            <a:schemeClr val="tx2"/>
          </a:solidFill>
          <a:ln w="9525">
            <a:solidFill>
              <a:srgbClr val="2A2D36"/>
            </a:solidFill>
            <a:prstDash val="solid"/>
          </a:ln>
        </p:spPr>
      </p:sp>
      <p:sp>
        <p:nvSpPr>
          <p:cNvPr id="21" name="Text 16"/>
          <p:cNvSpPr txBox="1"/>
          <p:nvPr/>
        </p:nvSpPr>
        <p:spPr>
          <a:xfrm>
            <a:off x="9098280" y="4937760"/>
            <a:ext cx="2286000" cy="59436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Rs 0</a:t>
            </a:r>
            <a:endParaRPr lang="en-US" sz="2800" dirty="0"/>
          </a:p>
        </p:txBody>
      </p:sp>
      <p:sp>
        <p:nvSpPr>
          <p:cNvPr id="22" name="Text 17"/>
          <p:cNvSpPr txBox="1"/>
          <p:nvPr/>
        </p:nvSpPr>
        <p:spPr>
          <a:xfrm>
            <a:off x="9098280" y="5532120"/>
            <a:ext cx="2331720" cy="548640"/>
          </a:xfrm>
          <a:prstGeom prst="rect">
            <a:avLst/>
          </a:prstGeom>
          <a:noFill/>
          <a:ln/>
        </p:spPr>
        <p:txBody>
          <a:bodyPr wrap="square" lIns="0" tIns="0" rIns="0" bIns="0" rtlCol="0" anchor="t"/>
          <a:lstStyle/>
          <a:p>
            <a:pPr indent="0" marL="0">
              <a:buNone/>
            </a:pPr>
            <a:r>
              <a:rPr lang="en-US" sz="1200" dirty="0">
                <a:solidFill>
                  <a:schemeClr val="bg2"/>
                </a:solidFill>
              </a:rPr>
              <a:t>API cost, fully local</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Filled where unseen, and always marked</a:t>
            </a:r>
            <a:endParaRPr lang="en-US" sz="3400" dirty="0"/>
          </a:p>
        </p:txBody>
      </p:sp>
      <p:pic>
        <p:nvPicPr>
          <p:cNvPr id="3" name="honesty-ceiling" descr="C:\Users\KIRAN\.claude\calde\hacknex-3d\deck\assets\2_honesty_view1.jpg">    </p:cNvPr>
          <p:cNvPicPr>
            <a:picLocks noChangeAspect="1"/>
          </p:cNvPicPr>
          <p:nvPr/>
        </p:nvPicPr>
        <p:blipFill>
          <a:blip r:embed="rId1"/>
          <a:stretch>
            <a:fillRect/>
          </a:stretch>
        </p:blipFill>
        <p:spPr>
          <a:xfrm>
            <a:off x="548640" y="1325880"/>
            <a:ext cx="6766560" cy="1892808"/>
          </a:xfrm>
          <a:prstGeom prst="rect">
            <a:avLst/>
          </a:prstGeom>
        </p:spPr>
      </p:pic>
      <p:sp>
        <p:nvSpPr>
          <p:cNvPr id="4" name="Text 1"/>
          <p:cNvSpPr txBox="1"/>
          <p:nvPr/>
        </p:nvSpPr>
        <p:spPr>
          <a:xfrm>
            <a:off x="548640" y="3291840"/>
            <a:ext cx="6766560" cy="548640"/>
          </a:xfrm>
          <a:prstGeom prst="rect">
            <a:avLst/>
          </a:prstGeom>
          <a:noFill/>
          <a:ln/>
        </p:spPr>
        <p:txBody>
          <a:bodyPr wrap="square" lIns="0" tIns="0" rIns="0" bIns="0" rtlCol="0" anchor="t"/>
          <a:lstStyle/>
          <a:p>
            <a:pPr indent="0" marL="0">
              <a:buNone/>
            </a:pPr>
            <a:r>
              <a:rPr lang="en-US" sz="1200" dirty="0">
                <a:solidFill>
                  <a:schemeClr val="bg2"/>
                </a:solidFill>
              </a:rPr>
              <a:t>Looking up at a ceiling the video never filmed: filled in (left), the same view with generated regions in magenta (right). Fans and beams the camera saw stay untouched.</a:t>
            </a:r>
            <a:endParaRPr lang="en-US" sz="1200" dirty="0"/>
          </a:p>
        </p:txBody>
      </p:sp>
      <p:pic>
        <p:nvPicPr>
          <p:cNvPr id="5" name="compare" descr="C:\Users\KIRAN\.claude\calde\hacknex-3d\deck\assets\demo_400.jpg">    </p:cNvPr>
          <p:cNvPicPr>
            <a:picLocks noChangeAspect="1"/>
          </p:cNvPicPr>
          <p:nvPr/>
        </p:nvPicPr>
        <p:blipFill>
          <a:blip r:embed="rId2"/>
          <a:stretch>
            <a:fillRect/>
          </a:stretch>
        </p:blipFill>
        <p:spPr>
          <a:xfrm>
            <a:off x="548640" y="3931920"/>
            <a:ext cx="4434840" cy="2194560"/>
          </a:xfrm>
          <a:prstGeom prst="rect">
            <a:avLst/>
          </a:prstGeom>
        </p:spPr>
      </p:pic>
      <p:sp>
        <p:nvSpPr>
          <p:cNvPr id="6" name="Text 2"/>
          <p:cNvSpPr txBox="1"/>
          <p:nvPr/>
        </p:nvSpPr>
        <p:spPr>
          <a:xfrm>
            <a:off x="5120640" y="4023360"/>
            <a:ext cx="2240280" cy="1463040"/>
          </a:xfrm>
          <a:prstGeom prst="rect">
            <a:avLst/>
          </a:prstGeom>
          <a:noFill/>
          <a:ln/>
        </p:spPr>
        <p:txBody>
          <a:bodyPr wrap="square" lIns="0" tIns="0" rIns="0" bIns="0" rtlCol="0" anchor="t"/>
          <a:lstStyle/>
          <a:p>
            <a:pPr indent="0" marL="0">
              <a:buNone/>
            </a:pPr>
            <a:r>
              <a:rPr lang="en-US" sz="1300" dirty="0">
                <a:solidFill>
                  <a:schemeClr val="bg1"/>
                </a:solidFill>
              </a:rPr>
              <a:t>New viewpoint: the baseline shows floater streaks, RoomFill stays clean</a:t>
            </a:r>
            <a:endParaRPr lang="en-US" sz="1300" dirty="0"/>
          </a:p>
        </p:txBody>
      </p:sp>
      <p:sp>
        <p:nvSpPr>
          <p:cNvPr id="7" name="surfaces-card"/>
          <p:cNvSpPr/>
          <p:nvPr/>
        </p:nvSpPr>
        <p:spPr>
          <a:xfrm>
            <a:off x="7589520" y="1325880"/>
            <a:ext cx="4023360" cy="4800600"/>
          </a:xfrm>
          <a:prstGeom prst="roundRect">
            <a:avLst>
              <a:gd name="adj" fmla="val 2727"/>
            </a:avLst>
          </a:prstGeom>
          <a:solidFill>
            <a:schemeClr val="tx2"/>
          </a:solidFill>
          <a:ln w="9525">
            <a:solidFill>
              <a:srgbClr val="2A2D36"/>
            </a:solidFill>
            <a:prstDash val="solid"/>
          </a:ln>
        </p:spPr>
      </p:sp>
      <p:graphicFrame>
        <p:nvGraphicFramePr>
          <p:cNvPr id="8" name="Chart 0" descr=""/>
          <p:cNvGraphicFramePr/>
          <p:nvPr/>
        </p:nvGraphicFramePr>
        <p:xfrm>
          <a:off x="7726680" y="1417320"/>
          <a:ext cx="3749040" cy="461772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347472"/>
            <a:ext cx="10424160" cy="685800"/>
          </a:xfrm>
          <a:prstGeom prst="rect">
            <a:avLst/>
          </a:prstGeom>
          <a:noFill/>
          <a:ln/>
        </p:spPr>
        <p:txBody>
          <a:bodyPr wrap="square" lIns="0" tIns="0" rIns="0" bIns="0" rtlCol="0" anchor="ctr"/>
          <a:lstStyle/>
          <a:p>
            <a:pPr indent="0" marL="0">
              <a:buNone/>
            </a:pPr>
            <a:r>
              <a:rPr lang="en-US" sz="3400" b="1" dirty="0">
                <a:solidFill>
                  <a:srgbClr val="EDEDF0"/>
                </a:solidFill>
                <a:latin typeface="Cambria" pitchFamily="34" charset="0"/>
                <a:ea typeface="Cambria" pitchFamily="34" charset="-122"/>
                <a:cs typeface="Cambria" pitchFamily="34" charset="-120"/>
              </a:rPr>
              <a:t>All five stretch goals, plus a live demo</a:t>
            </a:r>
            <a:endParaRPr lang="en-US" sz="3400" dirty="0"/>
          </a:p>
        </p:txBody>
      </p:sp>
      <p:sp>
        <p:nvSpPr>
          <p:cNvPr id="3" name="bonus-0"/>
          <p:cNvSpPr/>
          <p:nvPr/>
        </p:nvSpPr>
        <p:spPr>
          <a:xfrm>
            <a:off x="548640" y="1325880"/>
            <a:ext cx="6035040" cy="777240"/>
          </a:xfrm>
          <a:prstGeom prst="roundRect">
            <a:avLst>
              <a:gd name="adj" fmla="val 14118"/>
            </a:avLst>
          </a:prstGeom>
          <a:solidFill>
            <a:schemeClr val="tx2"/>
          </a:solidFill>
          <a:ln w="9525">
            <a:solidFill>
              <a:srgbClr val="2A2D36"/>
            </a:solidFill>
            <a:prstDash val="solid"/>
          </a:ln>
        </p:spPr>
      </p:sp>
      <p:sp>
        <p:nvSpPr>
          <p:cNvPr id="4" name="dot-1"/>
          <p:cNvSpPr/>
          <p:nvPr/>
        </p:nvSpPr>
        <p:spPr>
          <a:xfrm>
            <a:off x="749808" y="1517904"/>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749808" y="1517904"/>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Text 4"/>
          <p:cNvSpPr txBox="1"/>
          <p:nvPr/>
        </p:nvSpPr>
        <p:spPr>
          <a:xfrm>
            <a:off x="1298448" y="1408176"/>
            <a:ext cx="5166360" cy="658368"/>
          </a:xfrm>
          <a:prstGeom prst="rect">
            <a:avLst/>
          </a:prstGeom>
          <a:noFill/>
          <a:ln/>
        </p:spPr>
        <p:txBody>
          <a:bodyPr wrap="square" lIns="0" tIns="0" rIns="0" bIns="0" rtlCol="0" anchor="t"/>
          <a:lstStyle/>
          <a:p>
            <a:pPr indent="0" marL="0">
              <a:buNone/>
            </a:pPr>
            <a:r>
              <a:rPr lang="en-US" sz="1400" b="1" dirty="0">
                <a:solidFill>
                  <a:schemeClr val="bg1"/>
                </a:solidFill>
              </a:rPr>
              <a:t>Both modes in one pipeline</a:t>
            </a:r>
            <a:endParaRPr lang="en-US" sz="1400" dirty="0"/>
          </a:p>
          <a:p>
            <a:pPr indent="0" marL="0">
              <a:buNone/>
            </a:pPr>
            <a:r>
              <a:rPr lang="en-US" sz="1200" dirty="0">
                <a:solidFill>
                  <a:schemeClr val="bg2"/>
                </a:solidFill>
              </a:rPr>
              <a:t>Floor plan parsed to 3D; it sets metric scale and its door aligns 77% with the doorway the video saw through</a:t>
            </a:r>
            <a:endParaRPr lang="en-US" sz="1400" dirty="0"/>
          </a:p>
        </p:txBody>
      </p:sp>
      <p:sp>
        <p:nvSpPr>
          <p:cNvPr id="7" name="bonus-1"/>
          <p:cNvSpPr/>
          <p:nvPr/>
        </p:nvSpPr>
        <p:spPr>
          <a:xfrm>
            <a:off x="548640" y="2221992"/>
            <a:ext cx="6035040" cy="777240"/>
          </a:xfrm>
          <a:prstGeom prst="roundRect">
            <a:avLst>
              <a:gd name="adj" fmla="val 14118"/>
            </a:avLst>
          </a:prstGeom>
          <a:solidFill>
            <a:schemeClr val="tx2"/>
          </a:solidFill>
          <a:ln w="9525">
            <a:solidFill>
              <a:srgbClr val="2A2D36"/>
            </a:solidFill>
            <a:prstDash val="solid"/>
          </a:ln>
        </p:spPr>
      </p:sp>
      <p:sp>
        <p:nvSpPr>
          <p:cNvPr id="8" name="dot-2"/>
          <p:cNvSpPr/>
          <p:nvPr/>
        </p:nvSpPr>
        <p:spPr>
          <a:xfrm>
            <a:off x="749808" y="2414016"/>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749808" y="241401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Text 8"/>
          <p:cNvSpPr txBox="1"/>
          <p:nvPr/>
        </p:nvSpPr>
        <p:spPr>
          <a:xfrm>
            <a:off x="1298448" y="2304288"/>
            <a:ext cx="5166360" cy="658368"/>
          </a:xfrm>
          <a:prstGeom prst="rect">
            <a:avLst/>
          </a:prstGeom>
          <a:noFill/>
          <a:ln/>
        </p:spPr>
        <p:txBody>
          <a:bodyPr wrap="square" lIns="0" tIns="0" rIns="0" bIns="0" rtlCol="0" anchor="t"/>
          <a:lstStyle/>
          <a:p>
            <a:pPr indent="0" marL="0">
              <a:buNone/>
            </a:pPr>
            <a:r>
              <a:rPr lang="en-US" sz="1400" b="1" dirty="0">
                <a:solidFill>
                  <a:schemeClr val="bg1"/>
                </a:solidFill>
              </a:rPr>
              <a:t>Observed vs generated</a:t>
            </a:r>
            <a:endParaRPr lang="en-US" sz="1400" dirty="0"/>
          </a:p>
          <a:p>
            <a:pPr indent="0" marL="0">
              <a:buNone/>
            </a:pPr>
            <a:r>
              <a:rPr lang="en-US" sz="1200" dirty="0">
                <a:solidFill>
                  <a:schemeClr val="bg2"/>
                </a:solidFill>
              </a:rPr>
              <a:t>Magenta overlay with a confidence ramp, in the viewer and in every exported file</a:t>
            </a:r>
            <a:endParaRPr lang="en-US" sz="1400" dirty="0"/>
          </a:p>
        </p:txBody>
      </p:sp>
      <p:sp>
        <p:nvSpPr>
          <p:cNvPr id="11" name="bonus-2"/>
          <p:cNvSpPr/>
          <p:nvPr/>
        </p:nvSpPr>
        <p:spPr>
          <a:xfrm>
            <a:off x="548640" y="3118104"/>
            <a:ext cx="6035040" cy="777240"/>
          </a:xfrm>
          <a:prstGeom prst="roundRect">
            <a:avLst>
              <a:gd name="adj" fmla="val 14118"/>
            </a:avLst>
          </a:prstGeom>
          <a:solidFill>
            <a:schemeClr val="tx2"/>
          </a:solidFill>
          <a:ln w="9525">
            <a:solidFill>
              <a:srgbClr val="2A2D36"/>
            </a:solidFill>
            <a:prstDash val="solid"/>
          </a:ln>
        </p:spPr>
      </p:sp>
      <p:sp>
        <p:nvSpPr>
          <p:cNvPr id="12" name="dot-3"/>
          <p:cNvSpPr/>
          <p:nvPr/>
        </p:nvSpPr>
        <p:spPr>
          <a:xfrm>
            <a:off x="749808" y="3310128"/>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749808" y="3310128"/>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 12"/>
          <p:cNvSpPr txBox="1"/>
          <p:nvPr/>
        </p:nvSpPr>
        <p:spPr>
          <a:xfrm>
            <a:off x="1298448" y="3200400"/>
            <a:ext cx="5166360" cy="658368"/>
          </a:xfrm>
          <a:prstGeom prst="rect">
            <a:avLst/>
          </a:prstGeom>
          <a:noFill/>
          <a:ln/>
        </p:spPr>
        <p:txBody>
          <a:bodyPr wrap="square" lIns="0" tIns="0" rIns="0" bIns="0" rtlCol="0" anchor="t"/>
          <a:lstStyle/>
          <a:p>
            <a:pPr indent="0" marL="0">
              <a:buNone/>
            </a:pPr>
            <a:r>
              <a:rPr lang="en-US" sz="1400" b="1" dirty="0">
                <a:solidFill>
                  <a:schemeClr val="bg1"/>
                </a:solidFill>
              </a:rPr>
              <a:t>Object-level</a:t>
            </a:r>
            <a:endParaRPr lang="en-US" sz="1400" dirty="0"/>
          </a:p>
          <a:p>
            <a:pPr indent="0" marL="0">
              <a:buNone/>
            </a:pPr>
            <a:r>
              <a:rPr lang="en-US" sz="1200" dirty="0">
                <a:solidFill>
                  <a:schemeClr val="bg2"/>
                </a:solidFill>
              </a:rPr>
              <a:t>Furniture split into 36 objects (18 desk units, 6 fans and lights) with boxes</a:t>
            </a:r>
            <a:endParaRPr lang="en-US" sz="1400" dirty="0"/>
          </a:p>
        </p:txBody>
      </p:sp>
      <p:sp>
        <p:nvSpPr>
          <p:cNvPr id="15" name="bonus-3"/>
          <p:cNvSpPr/>
          <p:nvPr/>
        </p:nvSpPr>
        <p:spPr>
          <a:xfrm>
            <a:off x="548640" y="4014216"/>
            <a:ext cx="6035040" cy="777240"/>
          </a:xfrm>
          <a:prstGeom prst="roundRect">
            <a:avLst>
              <a:gd name="adj" fmla="val 14118"/>
            </a:avLst>
          </a:prstGeom>
          <a:solidFill>
            <a:schemeClr val="tx2"/>
          </a:solidFill>
          <a:ln w="9525">
            <a:solidFill>
              <a:srgbClr val="2A2D36"/>
            </a:solidFill>
            <a:prstDash val="solid"/>
          </a:ln>
        </p:spPr>
      </p:sp>
      <p:sp>
        <p:nvSpPr>
          <p:cNvPr id="16" name="dot-4"/>
          <p:cNvSpPr/>
          <p:nvPr/>
        </p:nvSpPr>
        <p:spPr>
          <a:xfrm>
            <a:off x="749808" y="420624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749808" y="42062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8" name="Text 16"/>
          <p:cNvSpPr txBox="1"/>
          <p:nvPr/>
        </p:nvSpPr>
        <p:spPr>
          <a:xfrm>
            <a:off x="1298448" y="4096512"/>
            <a:ext cx="5166360" cy="658368"/>
          </a:xfrm>
          <a:prstGeom prst="rect">
            <a:avLst/>
          </a:prstGeom>
          <a:noFill/>
          <a:ln/>
        </p:spPr>
        <p:txBody>
          <a:bodyPr wrap="square" lIns="0" tIns="0" rIns="0" bIns="0" rtlCol="0" anchor="t"/>
          <a:lstStyle/>
          <a:p>
            <a:pPr indent="0" marL="0">
              <a:buNone/>
            </a:pPr>
            <a:r>
              <a:rPr lang="en-US" sz="1400" b="1" dirty="0">
                <a:solidFill>
                  <a:schemeClr val="bg1"/>
                </a:solidFill>
              </a:rPr>
              <a:t>Sparse photos</a:t>
            </a:r>
            <a:endParaRPr lang="en-US" sz="1400" dirty="0"/>
          </a:p>
          <a:p>
            <a:pPr indent="0" marL="0">
              <a:buNone/>
            </a:pPr>
            <a:r>
              <a:rPr lang="en-US" sz="1200" dirty="0">
                <a:solidFill>
                  <a:schemeClr val="bg2"/>
                </a:solidFill>
              </a:rPr>
              <a:t>30 frames match the 400-frame video on views they cover (17.06 vs 17.13 PSNR)</a:t>
            </a:r>
            <a:endParaRPr lang="en-US" sz="1400" dirty="0"/>
          </a:p>
        </p:txBody>
      </p:sp>
      <p:sp>
        <p:nvSpPr>
          <p:cNvPr id="19" name="bonus-4"/>
          <p:cNvSpPr/>
          <p:nvPr/>
        </p:nvSpPr>
        <p:spPr>
          <a:xfrm>
            <a:off x="548640" y="4910328"/>
            <a:ext cx="6035040" cy="777240"/>
          </a:xfrm>
          <a:prstGeom prst="roundRect">
            <a:avLst>
              <a:gd name="adj" fmla="val 14118"/>
            </a:avLst>
          </a:prstGeom>
          <a:solidFill>
            <a:schemeClr val="tx2"/>
          </a:solidFill>
          <a:ln w="9525">
            <a:solidFill>
              <a:srgbClr val="2A2D36"/>
            </a:solidFill>
            <a:prstDash val="solid"/>
          </a:ln>
        </p:spPr>
      </p:sp>
      <p:sp>
        <p:nvSpPr>
          <p:cNvPr id="20" name="dot-5"/>
          <p:cNvSpPr/>
          <p:nvPr/>
        </p:nvSpPr>
        <p:spPr>
          <a:xfrm>
            <a:off x="749808" y="5102352"/>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749808" y="51023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2" name="Text 20"/>
          <p:cNvSpPr txBox="1"/>
          <p:nvPr/>
        </p:nvSpPr>
        <p:spPr>
          <a:xfrm>
            <a:off x="1298448" y="4992624"/>
            <a:ext cx="5166360" cy="658368"/>
          </a:xfrm>
          <a:prstGeom prst="rect">
            <a:avLst/>
          </a:prstGeom>
          <a:noFill/>
          <a:ln/>
        </p:spPr>
        <p:txBody>
          <a:bodyPr wrap="square" lIns="0" tIns="0" rIns="0" bIns="0" rtlCol="0" anchor="t"/>
          <a:lstStyle/>
          <a:p>
            <a:pPr indent="0" marL="0">
              <a:buNone/>
            </a:pPr>
            <a:r>
              <a:rPr lang="en-US" sz="1400" b="1" dirty="0">
                <a:solidFill>
                  <a:schemeClr val="bg1"/>
                </a:solidFill>
              </a:rPr>
              <a:t>Standard formats</a:t>
            </a:r>
            <a:endParaRPr lang="en-US" sz="1400" dirty="0"/>
          </a:p>
          <a:p>
            <a:pPr indent="0" marL="0">
              <a:buNone/>
            </a:pPr>
            <a:r>
              <a:rPr lang="en-US" sz="1200" dirty="0">
                <a:solidFill>
                  <a:schemeClr val="bg2"/>
                </a:solidFill>
              </a:rPr>
              <a:t>PLY, compact .splat, textured GLB and USD; open in Blender</a:t>
            </a:r>
            <a:endParaRPr lang="en-US" sz="1400" dirty="0"/>
          </a:p>
        </p:txBody>
      </p:sp>
      <p:pic>
        <p:nvPicPr>
          <p:cNvPr id="23" name="demo-photo" descr="C:\Users\KIRAN\.claude\calde\hacknex-3d\deck\assets\demo_45.jpg">    </p:cNvPr>
          <p:cNvPicPr>
            <a:picLocks noChangeAspect="1"/>
          </p:cNvPicPr>
          <p:nvPr/>
        </p:nvPicPr>
        <p:blipFill>
          <a:blip r:embed="rId1"/>
          <a:stretch>
            <a:fillRect/>
          </a:stretch>
        </p:blipFill>
        <p:spPr>
          <a:xfrm>
            <a:off x="6858000" y="1325880"/>
            <a:ext cx="4754880" cy="2359152"/>
          </a:xfrm>
          <a:prstGeom prst="rect">
            <a:avLst/>
          </a:prstGeom>
        </p:spPr>
      </p:pic>
      <p:sp>
        <p:nvSpPr>
          <p:cNvPr id="24" name="links-card"/>
          <p:cNvSpPr/>
          <p:nvPr/>
        </p:nvSpPr>
        <p:spPr>
          <a:xfrm>
            <a:off x="6858000" y="3840480"/>
            <a:ext cx="4754880" cy="1280160"/>
          </a:xfrm>
          <a:prstGeom prst="roundRect">
            <a:avLst>
              <a:gd name="adj" fmla="val 8571"/>
            </a:avLst>
          </a:prstGeom>
          <a:solidFill>
            <a:schemeClr val="accent5"/>
          </a:solidFill>
          <a:ln w="9525">
            <a:solidFill>
              <a:srgbClr val="2A2D36"/>
            </a:solidFill>
            <a:prstDash val="solid"/>
          </a:ln>
        </p:spPr>
      </p:sp>
      <p:sp>
        <p:nvSpPr>
          <p:cNvPr id="25" name="Text 22"/>
          <p:cNvSpPr txBox="1"/>
          <p:nvPr/>
        </p:nvSpPr>
        <p:spPr>
          <a:xfrm>
            <a:off x="7086600" y="3913632"/>
            <a:ext cx="4389120" cy="1170432"/>
          </a:xfrm>
          <a:prstGeom prst="rect">
            <a:avLst/>
          </a:prstGeom>
          <a:noFill/>
          <a:ln/>
        </p:spPr>
        <p:txBody>
          <a:bodyPr wrap="square" lIns="0" tIns="0" rIns="0" bIns="0" rtlCol="0" anchor="t"/>
          <a:lstStyle/>
          <a:p>
            <a:pPr indent="0" marL="0">
              <a:buNone/>
            </a:pPr>
            <a:r>
              <a:rPr lang="en-US" sz="1400" b="1" dirty="0">
                <a:solidFill>
                  <a:schemeClr val="accent1"/>
                </a:solidFill>
              </a:rPr>
              <a:t>Live demo</a:t>
            </a:r>
            <a:endParaRPr lang="en-US" sz="1400" dirty="0"/>
          </a:p>
          <a:p>
            <a:pPr indent="0" marL="0">
              <a:buNone/>
            </a:pPr>
            <a:r>
              <a:rPr lang="en-US" sz="1400" dirty="0">
                <a:solidFill>
                  <a:schemeClr val="bg1"/>
                </a:solidFill>
              </a:rPr>
              <a:t>kiran120627-hub.github.io/roomfill/viewer</a:t>
            </a:r>
            <a:endParaRPr lang="en-US" sz="1400" dirty="0"/>
          </a:p>
          <a:p>
            <a:pPr indent="0" marL="0">
              <a:buNone/>
            </a:pPr>
            <a:r>
              <a:rPr lang="en-US" sz="1400" dirty="0">
                <a:solidFill>
                  <a:schemeClr val="bg2"/>
                </a:solidFill>
              </a:rPr>
              <a:t>Code: github.com/kiran120627-hub/roomfill</a:t>
            </a:r>
            <a:endParaRPr lang="en-US" sz="1400" dirty="0"/>
          </a:p>
          <a:p>
            <a:pPr indent="0" marL="0">
              <a:buNone/>
            </a:pPr>
            <a:r>
              <a:rPr lang="en-US" sz="1200" dirty="0">
                <a:solidFill>
                  <a:schemeClr val="accent2"/>
                </a:solidFill>
              </a:rPr>
              <a:t>Press T, click two points: real distance in metres</a:t>
            </a:r>
            <a:endParaRPr lang="en-US" sz="1400" dirty="0"/>
          </a:p>
        </p:txBody>
      </p:sp>
      <p:sp>
        <p:nvSpPr>
          <p:cNvPr id="26" name="limits-card"/>
          <p:cNvSpPr/>
          <p:nvPr/>
        </p:nvSpPr>
        <p:spPr>
          <a:xfrm>
            <a:off x="6858000" y="5257800"/>
            <a:ext cx="4754880" cy="960120"/>
          </a:xfrm>
          <a:prstGeom prst="roundRect">
            <a:avLst>
              <a:gd name="adj" fmla="val 11429"/>
            </a:avLst>
          </a:prstGeom>
          <a:solidFill>
            <a:schemeClr val="tx2"/>
          </a:solidFill>
          <a:ln w="9525">
            <a:solidFill>
              <a:srgbClr val="2A2D36"/>
            </a:solidFill>
            <a:prstDash val="solid"/>
          </a:ln>
        </p:spPr>
      </p:sp>
      <p:sp>
        <p:nvSpPr>
          <p:cNvPr id="27" name="Text 24"/>
          <p:cNvSpPr txBox="1"/>
          <p:nvPr/>
        </p:nvSpPr>
        <p:spPr>
          <a:xfrm>
            <a:off x="7086600" y="5330952"/>
            <a:ext cx="4389120" cy="841248"/>
          </a:xfrm>
          <a:prstGeom prst="rect">
            <a:avLst/>
          </a:prstGeom>
          <a:noFill/>
          <a:ln/>
        </p:spPr>
        <p:txBody>
          <a:bodyPr wrap="square" lIns="0" tIns="0" rIns="0" bIns="0" rtlCol="0" anchor="t"/>
          <a:lstStyle/>
          <a:p>
            <a:pPr indent="0" marL="0">
              <a:buNone/>
            </a:pPr>
            <a:r>
              <a:rPr lang="en-US" sz="1100" b="1" dirty="0">
                <a:solidFill>
                  <a:schemeClr val="bg1"/>
                </a:solidFill>
              </a:rPr>
              <a:t>Limits we state openly: </a:t>
            </a:r>
            <a:pPr indent="0" marL="0">
              <a:buNone/>
            </a:pPr>
            <a:r>
              <a:rPr lang="en-US" sz="1100" dirty="0">
                <a:solidFill>
                  <a:schemeClr val="bg2"/>
                </a:solidFill>
              </a:rPr>
              <a:t>rectangular rooms only; we complete surfaces, not hidden furniture; a small depth model was 2x off here, so a sanity check falls back to a camera-height prior.</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6B1"/>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oomFill Dark">
  <a:themeElements>
    <a:clrScheme name="RoomFill Dark">
      <a:dk1>
        <a:srgbClr val="0E0F12"/>
      </a:dk1>
      <a:lt1>
        <a:srgbClr val="EDEDF0"/>
      </a:lt1>
      <a:dk2>
        <a:srgbClr val="1A1C22"/>
      </a:dk2>
      <a:lt2>
        <a:srgbClr val="A3A6B1"/>
      </a:lt2>
      <a:accent1>
        <a:srgbClr val="E0479E"/>
      </a:accent1>
      <a:accent2>
        <a:srgbClr val="5FC79A"/>
      </a:accent2>
      <a:accent3>
        <a:srgbClr val="7AA2F7"/>
      </a:accent3>
      <a:accent4>
        <a:srgbClr val="F2B84B"/>
      </a:accent4>
      <a:accent5>
        <a:srgbClr val="2A2D36"/>
      </a:accent5>
      <a:accent6>
        <a:srgbClr val="6F7380"/>
      </a:accent6>
      <a:hlink>
        <a:srgbClr val="E0479E"/>
      </a:hlink>
      <a:folHlink>
        <a:srgbClr val="C17BB0"/>
      </a:folHlink>
    </a:clrScheme>
    <a:fontScheme name="RoomFill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RoomFill: HackNex 2026</dc:title>
  <dc:subject>PptxGenJS Presentation</dc:subject>
  <dc:creator>RoomFill team, Karunya</dc:creator>
  <cp:lastModifiedBy>RoomFill team, Karunya</cp:lastModifiedBy>
  <cp:revision>1</cp:revision>
  <dcterms:created xsi:type="dcterms:W3CDTF">2026-10-08T21:07:31Z</dcterms:created>
  <dcterms:modified xsi:type="dcterms:W3CDTF">2026-10-08T21:07:31Z</dcterms:modified>
</cp:coreProperties>
</file>